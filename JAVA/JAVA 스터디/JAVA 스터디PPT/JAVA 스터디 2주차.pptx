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7"/>
  </p:notesMasterIdLst>
  <p:handoutMasterIdLst>
    <p:handoutMasterId r:id="rId18"/>
  </p:handoutMasterIdLst>
  <p:sldIdLst>
    <p:sldId id="3825" r:id="rId5"/>
    <p:sldId id="3827" r:id="rId6"/>
    <p:sldId id="3844" r:id="rId7"/>
    <p:sldId id="3854" r:id="rId8"/>
    <p:sldId id="3846" r:id="rId9"/>
    <p:sldId id="3847" r:id="rId10"/>
    <p:sldId id="3848" r:id="rId11"/>
    <p:sldId id="3849" r:id="rId12"/>
    <p:sldId id="3851" r:id="rId13"/>
    <p:sldId id="3855" r:id="rId14"/>
    <p:sldId id="3856" r:id="rId15"/>
    <p:sldId id="3857" r:id="rId1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8" autoAdjust="0"/>
    <p:restoredTop sz="94660"/>
  </p:normalViewPr>
  <p:slideViewPr>
    <p:cSldViewPr snapToGrid="0">
      <p:cViewPr>
        <p:scale>
          <a:sx n="77" d="100"/>
          <a:sy n="77" d="100"/>
        </p:scale>
        <p:origin x="36" y="1188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2024-01-11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2024-01-11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321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</a:rPr>
              <a:t>2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</a:rPr>
              <a:t>4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96" y="345221"/>
            <a:ext cx="3198812" cy="700238"/>
          </a:xfrm>
        </p:spPr>
        <p:txBody>
          <a:bodyPr rtlCol="0" anchor="b">
            <a:normAutofit/>
          </a:bodyPr>
          <a:lstStyle/>
          <a:p>
            <a:pPr rtl="0"/>
            <a:r>
              <a:rPr lang="ko-KR" altLang="en-US" dirty="0"/>
              <a:t>생성자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585" y="1523205"/>
            <a:ext cx="5150333" cy="4444457"/>
          </a:xfrm>
        </p:spPr>
        <p:txBody>
          <a:bodyPr rtlCol="0">
            <a:norm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클래스의 인스턴스를 생성할 때 최초로 실행되는 메소드</a:t>
            </a:r>
            <a:endParaRPr lang="en-US" altLang="ko-KR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생성자의 이름은 클래스의 이름과 동일해야 된다</a:t>
            </a:r>
            <a:r>
              <a:rPr lang="en-US" altLang="ko-KR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생성자는 값을 반환하지 않고 반환형도 표시하지 않는다</a:t>
            </a:r>
            <a:r>
              <a:rPr lang="en-US" altLang="ko-KR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기본 생성자</a:t>
            </a:r>
            <a:r>
              <a:rPr lang="en-US" altLang="ko-KR" dirty="0"/>
              <a:t>(</a:t>
            </a:r>
            <a:r>
              <a:rPr lang="ko-KR" altLang="en-US" dirty="0"/>
              <a:t>디폴트 생성자</a:t>
            </a:r>
            <a:r>
              <a:rPr lang="en-US" altLang="ko-KR" dirty="0"/>
              <a:t>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F0F0F"/>
                </a:solidFill>
                <a:effectLst/>
                <a:latin typeface="Söhne"/>
              </a:rPr>
              <a:t>매개변수를 가진 생성자</a:t>
            </a:r>
            <a:endParaRPr lang="en-US" altLang="ko-KR" dirty="0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C38C14-19F7-F1D3-E77A-D65A60A18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084" y="578128"/>
            <a:ext cx="4878005" cy="527166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3F0761B-04F8-EC09-0715-AB9F384349E3}"/>
              </a:ext>
            </a:extLst>
          </p:cNvPr>
          <p:cNvSpPr/>
          <p:nvPr/>
        </p:nvSpPr>
        <p:spPr>
          <a:xfrm>
            <a:off x="7014376" y="2170470"/>
            <a:ext cx="3762481" cy="8584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368A8B-AE31-5AC0-E47E-0171533CA92E}"/>
              </a:ext>
            </a:extLst>
          </p:cNvPr>
          <p:cNvSpPr/>
          <p:nvPr/>
        </p:nvSpPr>
        <p:spPr>
          <a:xfrm>
            <a:off x="7022646" y="1311683"/>
            <a:ext cx="1869621" cy="753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FBD804D-75CB-3F1E-7F60-9334E3E60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384" y="637755"/>
            <a:ext cx="95263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03" y="454818"/>
            <a:ext cx="3932237" cy="1068388"/>
          </a:xfrm>
        </p:spPr>
        <p:txBody>
          <a:bodyPr/>
          <a:lstStyle/>
          <a:p>
            <a:r>
              <a:rPr lang="ko-KR" altLang="en-US" dirty="0"/>
              <a:t>인스턴스 변수와</a:t>
            </a:r>
            <a:br>
              <a:rPr lang="en-US" altLang="ko-KR" dirty="0"/>
            </a:br>
            <a:r>
              <a:rPr lang="ko-KR" altLang="en-US" dirty="0"/>
              <a:t>클래스 변수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95714F2-2029-F8EA-0F79-768815EE9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9697" y="454818"/>
            <a:ext cx="4863341" cy="4635862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FB7365-6197-B4D3-0553-09BC2B82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3792" y="1523206"/>
            <a:ext cx="6205905" cy="43193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인스턴스 변수</a:t>
            </a:r>
            <a:endParaRPr lang="en-US" altLang="ko-KR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클래스를 객체화 했을 때 객체의 고유 특성을 저장하는 변수</a:t>
            </a:r>
            <a:endParaRPr lang="en-US" altLang="ko-KR" sz="12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객체를 생성할 때마다 독립적인 메모리 공간을 확보한다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객체가 소멸하면 해당 인스턴스 변수도 함께 소멸</a:t>
            </a:r>
            <a:endParaRPr lang="en-US" altLang="ko-KR" sz="1200" dirty="0"/>
          </a:p>
          <a:p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클래스 변수</a:t>
            </a:r>
            <a:endParaRPr lang="en-US" altLang="ko-KR" dirty="0"/>
          </a:p>
          <a:p>
            <a:r>
              <a:rPr lang="en-US" altLang="ko-KR" sz="1200" dirty="0"/>
              <a:t>-</a:t>
            </a:r>
            <a:r>
              <a:rPr lang="ko-KR" altLang="en-US" sz="1200" b="0" i="0" dirty="0">
                <a:solidFill>
                  <a:srgbClr val="374151"/>
                </a:solidFill>
                <a:effectLst/>
              </a:rPr>
              <a:t>클래스의 모든 인스턴스가 공유하는 변수</a:t>
            </a:r>
            <a:endParaRPr lang="en-US" altLang="ko-KR" sz="1200" b="0" i="0" dirty="0">
              <a:solidFill>
                <a:srgbClr val="374151"/>
              </a:solidFill>
              <a:effectLst/>
            </a:endParaRPr>
          </a:p>
          <a:p>
            <a:r>
              <a:rPr lang="en-US" altLang="ko-KR" sz="1200" dirty="0"/>
              <a:t>-</a:t>
            </a:r>
            <a:r>
              <a:rPr lang="ko-KR" altLang="en-US" sz="1200" i="0" dirty="0">
                <a:solidFill>
                  <a:srgbClr val="374151"/>
                </a:solidFill>
                <a:effectLst/>
              </a:rPr>
              <a:t>클래스 내부에 선언이 되지만 인스턴스 변수와 달리 </a:t>
            </a:r>
            <a:r>
              <a:rPr lang="en-US" altLang="ko-KR" sz="1200" i="0" dirty="0">
                <a:solidFill>
                  <a:srgbClr val="374151"/>
                </a:solidFill>
                <a:effectLst/>
              </a:rPr>
              <a:t>static</a:t>
            </a:r>
            <a:r>
              <a:rPr lang="en-US" altLang="ko-KR" sz="1200" dirty="0">
                <a:solidFill>
                  <a:srgbClr val="374151"/>
                </a:solidFill>
              </a:rPr>
              <a:t> </a:t>
            </a:r>
            <a:r>
              <a:rPr lang="ko-KR" altLang="en-US" sz="1200" dirty="0">
                <a:solidFill>
                  <a:srgbClr val="374151"/>
                </a:solidFill>
              </a:rPr>
              <a:t>을 붙여 표시</a:t>
            </a:r>
            <a:endParaRPr lang="en-US" altLang="ko-KR" sz="1200" dirty="0">
              <a:solidFill>
                <a:srgbClr val="374151"/>
              </a:solidFill>
            </a:endParaRPr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객체의 생성과 소멸과는 독립적으로 동작</a:t>
            </a:r>
            <a:endParaRPr lang="en-US" altLang="ko-KR" sz="1200" dirty="0"/>
          </a:p>
          <a:p>
            <a:endParaRPr lang="en-US" altLang="ko-KR" sz="1200" dirty="0">
              <a:solidFill>
                <a:srgbClr val="374151"/>
              </a:solidFill>
              <a:latin typeface="Söhne"/>
            </a:endParaRPr>
          </a:p>
          <a:p>
            <a:endParaRPr lang="en-US" altLang="ko-K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642062-C54F-CCCD-090B-3817673A2EF9}"/>
              </a:ext>
            </a:extLst>
          </p:cNvPr>
          <p:cNvSpPr/>
          <p:nvPr/>
        </p:nvSpPr>
        <p:spPr>
          <a:xfrm>
            <a:off x="7519307" y="595993"/>
            <a:ext cx="1534886" cy="195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680442C-6D96-19FF-CDA3-C5EAD6F59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78" y="4465864"/>
            <a:ext cx="2005448" cy="16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5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DFE56-542B-9D30-6E8D-3E1D95E0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67" y="277585"/>
            <a:ext cx="3932237" cy="48985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상속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E7050-A931-ED35-F541-E49EC8399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333" y="987424"/>
            <a:ext cx="3932237" cy="55358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슈퍼 클래스의 메소드나 필드를 서브 클래스가 다른 선언 없이 상속 받아 사용할 수 있도록 하는 기능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부모 클래스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자식 클래스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extends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Super                                                   </a:t>
            </a:r>
            <a:r>
              <a:rPr lang="ko-KR" altLang="en-US" sz="1200" dirty="0"/>
              <a:t>상위 클래스의 생성자 호출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단일 상속만을 지원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28E444-D22D-FDB5-0965-95ACF390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4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CE09D-BFDF-6BD7-A68C-AEE702B3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62B9C6-BDF0-4351-6557-C2F6361C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20" y="501650"/>
            <a:ext cx="3222407" cy="14978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C643B4-7D20-B1F8-E540-4D00311B0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20" y="2574015"/>
            <a:ext cx="5183758" cy="37823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B5D0589-2198-8A64-F35E-3428B1BC3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804" y="5643514"/>
            <a:ext cx="1667108" cy="695422"/>
          </a:xfrm>
          <a:prstGeom prst="rect">
            <a:avLst/>
          </a:prstGeom>
        </p:spPr>
      </p:pic>
      <p:pic>
        <p:nvPicPr>
          <p:cNvPr id="2050" name="Picture 2" descr="Java] 자바 상속의 개념 및 사용법, 클래스 상속, 다중 상속 - seasome">
            <a:extLst>
              <a:ext uri="{FF2B5EF4-FFF2-40B4-BE49-F238E27FC236}">
                <a16:creationId xmlns:a16="http://schemas.microsoft.com/office/drawing/2014/main" id="{D45833AE-727A-319E-1291-1E2D2F952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66" y="3946709"/>
            <a:ext cx="3932237" cy="203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06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16" y="342900"/>
            <a:ext cx="3932237" cy="563336"/>
          </a:xfrm>
        </p:spPr>
        <p:txBody>
          <a:bodyPr/>
          <a:lstStyle/>
          <a:p>
            <a:r>
              <a:rPr lang="ko-KR" altLang="en-US" dirty="0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오버로딩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0D1992-D480-6D0E-81F9-E0726699D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20536"/>
            <a:ext cx="3932237" cy="484845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클래스에서 이름이 동일한 메소드를 사용할 수 있도록 지원하는 기능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조건</a:t>
            </a:r>
            <a:endParaRPr lang="en-US" altLang="ko-KR" sz="14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메소드 이름이 동일</a:t>
            </a:r>
            <a:endParaRPr lang="en-US" altLang="ko-KR" sz="12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매개변수의 개수</a:t>
            </a:r>
            <a:r>
              <a:rPr lang="en-US" altLang="ko-KR" sz="1200" dirty="0"/>
              <a:t>,</a:t>
            </a:r>
            <a:r>
              <a:rPr lang="ko-KR" altLang="en-US" sz="1200" dirty="0"/>
              <a:t>데이터 타입</a:t>
            </a:r>
            <a:r>
              <a:rPr lang="en-US" altLang="ko-KR" sz="1200" dirty="0"/>
              <a:t>, </a:t>
            </a:r>
            <a:r>
              <a:rPr lang="ko-KR" altLang="en-US" sz="1200" dirty="0"/>
              <a:t>순서가 달라야 한다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특징</a:t>
            </a:r>
            <a:endParaRPr lang="en-US" altLang="ko-KR" sz="14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반환 타입은 오버로딩에 영향을 주지 않는다</a:t>
            </a:r>
            <a:endParaRPr lang="en-US" altLang="ko-KR" sz="12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생성자도 오버로딩이 가능하다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56EBE8-3B9F-0CDB-AA91-56298DE2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942" y="801132"/>
            <a:ext cx="6516009" cy="46012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ABC400-CB97-D63A-EE01-D7091C47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252" y="1020536"/>
            <a:ext cx="1047896" cy="20957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EED581-3BAD-266E-0971-857BE0EC8540}"/>
              </a:ext>
            </a:extLst>
          </p:cNvPr>
          <p:cNvSpPr/>
          <p:nvPr/>
        </p:nvSpPr>
        <p:spPr>
          <a:xfrm>
            <a:off x="5915025" y="1609725"/>
            <a:ext cx="3114675" cy="158115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623C7-8478-C93C-0B1A-7A27D515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8" y="358775"/>
            <a:ext cx="3932237" cy="628650"/>
          </a:xfrm>
        </p:spPr>
        <p:txBody>
          <a:bodyPr/>
          <a:lstStyle/>
          <a:p>
            <a:r>
              <a:rPr lang="ko-KR" altLang="en-US" dirty="0"/>
              <a:t>메소드 </a:t>
            </a:r>
            <a:r>
              <a:rPr lang="ko-KR" altLang="en-US" dirty="0" err="1"/>
              <a:t>오버라이딩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A42BAF-A471-CB7A-A1BA-6C98276F9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4114800" cy="48736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슈퍼 클래스에 정의된 메소드를 서브 클래스에서 재정의 하는 것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상속관계에서 이름은 같으나 기능이 달라지는 것 때문에 발생하는 메소드의 혼동을 줄일 수 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메소드의 접근 범위가 슈퍼 클래스에서 선언된 메소드의 범위와 똑같거나 </a:t>
            </a:r>
            <a:r>
              <a:rPr lang="ko-KR" altLang="en-US" sz="1400" dirty="0" err="1"/>
              <a:t>커야한다</a:t>
            </a:r>
            <a:endParaRPr lang="ko-KR" altLang="en-US" sz="14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2956E-2BF5-AEA5-4DAE-ACC02174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444597-424D-5D36-1EB7-FF26508A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D8775C-8317-DE26-00CB-A481D2A35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72" y="3333780"/>
            <a:ext cx="5229955" cy="22767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1494E2-9AD9-3370-293F-EE8CCF0E0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37" y="5470226"/>
            <a:ext cx="2448275" cy="2806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336092F-610C-18BD-D0C0-4CB27354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86" y="375095"/>
            <a:ext cx="4677428" cy="271500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C57D41-F407-3340-1707-BC1A79A38D1D}"/>
              </a:ext>
            </a:extLst>
          </p:cNvPr>
          <p:cNvSpPr/>
          <p:nvPr/>
        </p:nvSpPr>
        <p:spPr>
          <a:xfrm>
            <a:off x="6648450" y="3752850"/>
            <a:ext cx="4824777" cy="619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9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3" y="390525"/>
            <a:ext cx="3932237" cy="742950"/>
          </a:xfrm>
        </p:spPr>
        <p:txBody>
          <a:bodyPr/>
          <a:lstStyle/>
          <a:p>
            <a:r>
              <a:rPr lang="ko-KR" altLang="en-US" dirty="0" err="1"/>
              <a:t>랩퍼</a:t>
            </a:r>
            <a:r>
              <a:rPr lang="ko-KR" altLang="en-US" dirty="0"/>
              <a:t> 클래스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437538-98B2-94D3-D68B-D81476346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33475"/>
            <a:ext cx="5094287" cy="473551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클래스 기능을 유지하면서 기능을 확장하거나 인터페이스를 바꿀 때 사용한다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기본 자료형을 객체로 매핑할 필요가 있거나 특정 자료형으로 변환이 필요할 때 사용할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</a:t>
            </a:r>
            <a:endParaRPr lang="en-US" altLang="ko-KR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값을 인스턴스로 감싸는 것</a:t>
            </a:r>
            <a:endParaRPr lang="en-US" altLang="ko-KR" sz="12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인스턴스에서 값을 꺼내는 것</a:t>
            </a:r>
            <a:endParaRPr lang="en-US" altLang="ko-KR" sz="12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0CB1F5-1514-90BD-BB07-99FE3797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41" y="762000"/>
            <a:ext cx="4601217" cy="3724795"/>
          </a:xfrm>
          <a:prstGeom prst="rect">
            <a:avLst/>
          </a:prstGeom>
        </p:spPr>
      </p:pic>
      <p:pic>
        <p:nvPicPr>
          <p:cNvPr id="3076" name="Picture 4" descr="JAVA/자바] 래퍼(Wrapper) 클래스와 박싱(boxing), 언박싱(un-boxing) : 네이버 블로그">
            <a:extLst>
              <a:ext uri="{FF2B5EF4-FFF2-40B4-BE49-F238E27FC236}">
                <a16:creationId xmlns:a16="http://schemas.microsoft.com/office/drawing/2014/main" id="{CE8D5872-7EC5-4824-0CD6-261EBF44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78" y="3412591"/>
            <a:ext cx="3168422" cy="214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255D3F-BEE4-3C32-542C-EE8912516437}"/>
              </a:ext>
            </a:extLst>
          </p:cNvPr>
          <p:cNvSpPr/>
          <p:nvPr/>
        </p:nvSpPr>
        <p:spPr>
          <a:xfrm>
            <a:off x="7734300" y="2619375"/>
            <a:ext cx="3438525" cy="2095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4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EA8B-7C09-820E-755A-2BAB025E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37" y="228600"/>
            <a:ext cx="5341937" cy="758825"/>
          </a:xfrm>
        </p:spPr>
        <p:txBody>
          <a:bodyPr>
            <a:noAutofit/>
          </a:bodyPr>
          <a:lstStyle/>
          <a:p>
            <a:r>
              <a:rPr lang="ko-KR" altLang="en-US" sz="2500" dirty="0"/>
              <a:t>추상 클래스와</a:t>
            </a:r>
            <a:r>
              <a:rPr lang="en-US" altLang="ko-KR" sz="2500" dirty="0"/>
              <a:t> </a:t>
            </a:r>
            <a:r>
              <a:rPr lang="ko-KR" altLang="en-US" sz="2500" dirty="0"/>
              <a:t>추상 메소드</a:t>
            </a:r>
            <a:br>
              <a:rPr lang="en-US" altLang="ko-KR" sz="2500" dirty="0"/>
            </a:br>
            <a:r>
              <a:rPr lang="ko-KR" altLang="en-US" sz="2500" dirty="0"/>
              <a:t> </a:t>
            </a:r>
            <a:r>
              <a:rPr lang="en-US" altLang="ko-KR" sz="2500" dirty="0"/>
              <a:t>/</a:t>
            </a:r>
            <a:r>
              <a:rPr lang="ko-KR" altLang="en-US" sz="2500" dirty="0"/>
              <a:t>추상 클래스와 상속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014250-3BF1-3DF8-7859-B2B0BBF3E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104900"/>
            <a:ext cx="6542087" cy="47640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추상 클래스</a:t>
            </a:r>
            <a:endParaRPr lang="en-US" altLang="ko-KR" dirty="0"/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추상 메소드를 한 개 이상 포함하는 클래스</a:t>
            </a:r>
            <a:endParaRPr lang="en-US" altLang="ko-KR" sz="1400" dirty="0"/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추상적인 개념이며 직접적으로 인스턴스화 할 수 없다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추상 클래스는 </a:t>
            </a:r>
            <a:r>
              <a:rPr lang="en-US" altLang="ko-KR" sz="1400" dirty="0"/>
              <a:t>abstract</a:t>
            </a:r>
            <a:r>
              <a:rPr lang="ko-KR" altLang="en-US" sz="1400" dirty="0"/>
              <a:t>를</a:t>
            </a:r>
            <a:r>
              <a:rPr lang="en-US" altLang="ko-KR" sz="1400" dirty="0"/>
              <a:t> </a:t>
            </a:r>
            <a:r>
              <a:rPr lang="ko-KR" altLang="en-US" sz="1400" dirty="0"/>
              <a:t>사용하여 선언한다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추상 메소드</a:t>
            </a:r>
            <a:endParaRPr lang="en-US" altLang="ko-KR" dirty="0"/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메소드의 이름만 있고 실행 코드가 없는 메소드</a:t>
            </a:r>
            <a:endParaRPr lang="en-US" altLang="ko-KR" sz="1400" dirty="0"/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선언 할 때 접근 한정자 앞에 </a:t>
            </a:r>
            <a:r>
              <a:rPr lang="en-US" altLang="ko-KR" sz="1400" dirty="0"/>
              <a:t>abstract </a:t>
            </a:r>
            <a:r>
              <a:rPr lang="ko-KR" altLang="en-US" sz="1400" dirty="0"/>
              <a:t>를 추가하고 실행 코드 부분은 작성하지 않는다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추상 클래스와 상속</a:t>
            </a:r>
            <a:endParaRPr lang="en-US" altLang="ko-KR" dirty="0"/>
          </a:p>
          <a:p>
            <a:r>
              <a:rPr lang="en-US" altLang="ko-KR" sz="1400" dirty="0"/>
              <a:t>-</a:t>
            </a:r>
            <a:r>
              <a:rPr lang="ko-KR" altLang="en-US" sz="1400" dirty="0"/>
              <a:t>상속과 실체화 사이에서 발생하는 논리적 문제를 해결하기 위해 추상 클래스를 사용</a:t>
            </a:r>
            <a:endParaRPr lang="en-US" altLang="ko-KR" sz="14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8CC0A3-5BCE-B6AE-6E2D-AC0F1259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5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E6092-3465-3394-AC66-23A7D314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173C85-917F-5B75-F483-723CEA98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4" y="444023"/>
            <a:ext cx="4172532" cy="227679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2235773-A700-1F1D-256F-D223B7FFF636}"/>
              </a:ext>
            </a:extLst>
          </p:cNvPr>
          <p:cNvSpPr/>
          <p:nvPr/>
        </p:nvSpPr>
        <p:spPr>
          <a:xfrm>
            <a:off x="8158162" y="444023"/>
            <a:ext cx="904875" cy="200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B4CFED-2A94-704F-3BE4-C5FD49B5396D}"/>
              </a:ext>
            </a:extLst>
          </p:cNvPr>
          <p:cNvSpPr/>
          <p:nvPr/>
        </p:nvSpPr>
        <p:spPr>
          <a:xfrm>
            <a:off x="7820025" y="1257300"/>
            <a:ext cx="904875" cy="200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6B16B7A-F169-97A2-7A07-1AFDBB18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4" y="3143249"/>
            <a:ext cx="4389685" cy="26098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81CF7A-BADC-177E-4B92-FAFDE3F52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5314889"/>
            <a:ext cx="112410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4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D7E2E-53E7-1FC2-1E2A-286300C2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238125"/>
            <a:ext cx="3932237" cy="647700"/>
          </a:xfrm>
        </p:spPr>
        <p:txBody>
          <a:bodyPr/>
          <a:lstStyle/>
          <a:p>
            <a:r>
              <a:rPr lang="ko-KR" altLang="en-US" dirty="0"/>
              <a:t>인터페이스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B03FE9-74D5-3665-D9DD-30031EF3C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4256087" cy="48815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추상 메소드의 집합으로 구성된 단위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구현된 메소드가 없고</a:t>
            </a:r>
            <a:r>
              <a:rPr lang="en-US" altLang="ko-KR" sz="1400" dirty="0"/>
              <a:t>, </a:t>
            </a:r>
            <a:r>
              <a:rPr lang="ko-KR" altLang="en-US" sz="1400" dirty="0"/>
              <a:t>변수 또한 선언할 수 없다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인터페이스에 있는 메소드의 접근 한정자는 </a:t>
            </a:r>
            <a:r>
              <a:rPr lang="en-US" altLang="ko-KR" sz="1400" dirty="0"/>
              <a:t>public</a:t>
            </a:r>
            <a:r>
              <a:rPr lang="ko-KR" altLang="en-US" sz="1400" dirty="0"/>
              <a:t>이 되어야 한다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Interface </a:t>
            </a:r>
            <a:r>
              <a:rPr lang="ko-KR" altLang="en-US" sz="1400" dirty="0"/>
              <a:t>키워드를 사용한다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선언된 인터페이스를 서브 클래스에서 </a:t>
            </a:r>
            <a:r>
              <a:rPr lang="ko-KR" altLang="en-US" sz="1400" dirty="0" err="1"/>
              <a:t>사용할때</a:t>
            </a:r>
            <a:r>
              <a:rPr lang="ko-KR" altLang="en-US" sz="1400" dirty="0"/>
              <a:t> </a:t>
            </a:r>
            <a:r>
              <a:rPr lang="en-US" altLang="ko-KR" sz="1400" dirty="0"/>
              <a:t>implements </a:t>
            </a:r>
            <a:r>
              <a:rPr lang="ko-KR" altLang="en-US" sz="1400" dirty="0"/>
              <a:t>키워드를 사용한다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80C998-0A6C-8229-D78A-FCC077B5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5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AEACC-F0FD-817B-4A42-D6E08EA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E078A3-6C7F-96B1-EC62-E01B2766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10" y="3576534"/>
            <a:ext cx="3153215" cy="14765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54FE5D2-0FA3-683E-9DD9-85A2B3719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6" y="704851"/>
            <a:ext cx="5924548" cy="36996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53FE31B-C8CF-4B93-24DB-0319D0210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762" y="4729220"/>
            <a:ext cx="143847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0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7E87E-94EA-0C6B-6B61-E71A0C7A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95275"/>
            <a:ext cx="4427537" cy="896938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변경자의  개념과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8258C7-FA72-E08D-5BC5-11463E673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2063"/>
            <a:ext cx="3291840" cy="41910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default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10E104-2424-A7B1-CB51-0F139FDEE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3291840" cy="1092198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클래스</a:t>
            </a:r>
            <a:r>
              <a:rPr lang="en-US" altLang="ko-KR" sz="1200" dirty="0"/>
              <a:t> </a:t>
            </a:r>
            <a:r>
              <a:rPr lang="ko-KR" altLang="en-US" sz="1200" dirty="0"/>
              <a:t>접근을 동일 패키지에 한정하려고 사용한다</a:t>
            </a:r>
            <a:endParaRPr lang="en-US" altLang="ko-KR" sz="1200" dirty="0"/>
          </a:p>
          <a:p>
            <a:r>
              <a:rPr lang="ko-KR" altLang="en-US" sz="1200" dirty="0"/>
              <a:t>동일 패키지에 있는 모든 클래스에 접근할 수 있는 접근 권한을 제공한다</a:t>
            </a:r>
            <a:endParaRPr lang="en-US" altLang="ko-KR" sz="12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4920A9-3EE4-59ED-136F-8D0819BE8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6149" y="2935286"/>
            <a:ext cx="3291840" cy="428625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public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9A9C5F-19DE-E36F-4185-797E4951D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7725" y="3354387"/>
            <a:ext cx="3337401" cy="1092199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패키지 외부에서도 접근 할 수 있도록 클래스를 개방하는 것</a:t>
            </a:r>
            <a:endParaRPr lang="en-US" altLang="ko-KR" sz="1200" dirty="0"/>
          </a:p>
          <a:p>
            <a:r>
              <a:rPr lang="ko-KR" altLang="en-US" sz="1200" dirty="0"/>
              <a:t>패키지에 있는 클래스 뿐만 아니라 패키지 외부의 클래스에서도 접근이 가능하다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endParaRPr lang="en-US" altLang="ko-KR" sz="120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38B1B1-04F1-501D-0F55-C52A3785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6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98B184-4A05-3730-5ADC-0AD40B9F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D3FA0A7-E55E-7B06-4238-DE8B388517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2075" y="1223962"/>
            <a:ext cx="3291840" cy="457200"/>
          </a:xfrm>
        </p:spPr>
        <p:txBody>
          <a:bodyPr/>
          <a:lstStyle/>
          <a:p>
            <a:r>
              <a:rPr lang="en-US" altLang="ko-KR" dirty="0"/>
              <a:t>private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A39FCA5-7789-07CD-256E-6627364323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1676399"/>
            <a:ext cx="3291840" cy="140970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200" dirty="0"/>
              <a:t>클래스의 필드나 메소드에서 외부 클래스의 접근을 차단하는 기능을 제공한다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선언된 필드는 클래스 내부 메소드를 제외하고는 접근을 허락하지 않는다</a:t>
            </a:r>
            <a:endParaRPr lang="en-US" altLang="ko-KR" sz="1200" dirty="0"/>
          </a:p>
          <a:p>
            <a:r>
              <a:rPr lang="ko-KR" altLang="en-US" sz="1200" dirty="0"/>
              <a:t>선언된 메소드는 클래스 내부 메소드만 호출할 수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Setter, getter</a:t>
            </a:r>
            <a:endParaRPr lang="ko-KR" altLang="en-US" sz="1200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A6C9A1B9-4F6F-A12E-32BB-E1B47617E8AD}"/>
              </a:ext>
            </a:extLst>
          </p:cNvPr>
          <p:cNvSpPr txBox="1">
            <a:spLocks/>
          </p:cNvSpPr>
          <p:nvPr/>
        </p:nvSpPr>
        <p:spPr>
          <a:xfrm>
            <a:off x="5172075" y="3200400"/>
            <a:ext cx="3291840" cy="45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protected</a:t>
            </a:r>
            <a:endParaRPr lang="ko-KR" altLang="en-US" dirty="0"/>
          </a:p>
        </p:txBody>
      </p:sp>
      <p:sp>
        <p:nvSpPr>
          <p:cNvPr id="13" name="내용 개체 틀 10">
            <a:extLst>
              <a:ext uri="{FF2B5EF4-FFF2-40B4-BE49-F238E27FC236}">
                <a16:creationId xmlns:a16="http://schemas.microsoft.com/office/drawing/2014/main" id="{B8510FD8-70ED-5A5B-B800-EB19075C2F1C}"/>
              </a:ext>
            </a:extLst>
          </p:cNvPr>
          <p:cNvSpPr txBox="1">
            <a:spLocks/>
          </p:cNvSpPr>
          <p:nvPr/>
        </p:nvSpPr>
        <p:spPr>
          <a:xfrm>
            <a:off x="5172075" y="3730625"/>
            <a:ext cx="3291840" cy="1409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패키지</a:t>
            </a:r>
            <a:r>
              <a:rPr lang="en-US" altLang="ko-KR" sz="1200" dirty="0"/>
              <a:t> </a:t>
            </a:r>
            <a:r>
              <a:rPr lang="ko-KR" altLang="en-US" sz="1200" dirty="0"/>
              <a:t>외부 클래스에서 접근하는 것을 차단하지만 패키지 내부 클래스에서 접근하는 것은 자유롭게 허용한다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상속관계에서는 </a:t>
            </a:r>
            <a:r>
              <a:rPr lang="en-US" altLang="ko-KR" sz="1200" dirty="0"/>
              <a:t>public </a:t>
            </a:r>
            <a:r>
              <a:rPr lang="ko-KR" altLang="en-US" sz="1200" dirty="0"/>
              <a:t>변경자와 같이 접근할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4509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F646E-5689-B16A-C6DA-40AC6483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368300"/>
            <a:ext cx="3932237" cy="619125"/>
          </a:xfrm>
        </p:spPr>
        <p:txBody>
          <a:bodyPr/>
          <a:lstStyle/>
          <a:p>
            <a:r>
              <a:rPr lang="en-US" altLang="ko-KR" dirty="0"/>
              <a:t>static </a:t>
            </a:r>
            <a:r>
              <a:rPr lang="ko-KR" altLang="en-US" dirty="0"/>
              <a:t>변경자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C7F1C0-7975-F89E-60DD-F8411FF35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필드나 메소드의 속성을 변경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필드나 메소드에 붙이면 고정된 메모리 공간이 할당된다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클래스의 인스턴스를 생성하지 않고 클래스명만 이용해 호출할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인스턴스 멤버에는 접근할 수 없다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0990A4-7F7E-0334-BCE6-2B0164EE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6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6FF8E7-847E-C786-3C48-31817C0F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6E4A2B-43C2-111E-3E8B-8779D73B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30" y="480881"/>
            <a:ext cx="6020640" cy="18766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A5DD18-D6D9-AB19-AD2E-2070D875A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030" y="2524021"/>
            <a:ext cx="4934639" cy="14861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346059-DFD6-F8A6-6F11-66B18DF44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030" y="4361689"/>
            <a:ext cx="285789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8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81432-E4A2-FAEB-AFB1-D3B46C60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425450"/>
            <a:ext cx="3932237" cy="561975"/>
          </a:xfrm>
        </p:spPr>
        <p:txBody>
          <a:bodyPr/>
          <a:lstStyle/>
          <a:p>
            <a:r>
              <a:rPr lang="en-US" altLang="ko-KR" dirty="0"/>
              <a:t>final </a:t>
            </a:r>
            <a:r>
              <a:rPr lang="ko-KR" altLang="en-US" dirty="0"/>
              <a:t>변경자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9C21CF-B3D9-D012-7415-FA03AF65F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클래스나 필드</a:t>
            </a:r>
            <a:r>
              <a:rPr lang="en-US" altLang="ko-KR" dirty="0"/>
              <a:t>, </a:t>
            </a:r>
            <a:r>
              <a:rPr lang="ko-KR" altLang="en-US" dirty="0"/>
              <a:t>메소드 등에 적용해 사용을 제안한다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final</a:t>
            </a:r>
            <a:r>
              <a:rPr lang="ko-KR" altLang="en-US" dirty="0"/>
              <a:t>을 사용하면 해당 요소에 대한 변경이 금지가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EC7B76-1555-20D1-0D38-36473996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6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871B39-F9F9-10E3-E6CA-616DB5CC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5E8D861-DADA-03E2-A319-6BCE691F0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018" y="604737"/>
            <a:ext cx="3496163" cy="14384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24014C-F320-723F-3DEA-30B773B7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790" y="2807476"/>
            <a:ext cx="466790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115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1070</TotalTime>
  <Words>542</Words>
  <Application>Microsoft Office PowerPoint</Application>
  <PresentationFormat>와이드스크린</PresentationFormat>
  <Paragraphs>109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Söhne</vt:lpstr>
      <vt:lpstr>맑은 고딕</vt:lpstr>
      <vt:lpstr>Arial</vt:lpstr>
      <vt:lpstr>ShapesVTI</vt:lpstr>
      <vt:lpstr>JAVA 스터디 2주차</vt:lpstr>
      <vt:lpstr>생성자</vt:lpstr>
      <vt:lpstr>인스턴스 변수와 클래스 변수</vt:lpstr>
      <vt:lpstr>상속</vt:lpstr>
      <vt:lpstr>메소드 오버로딩</vt:lpstr>
      <vt:lpstr>메소드 오버라이딩</vt:lpstr>
      <vt:lpstr>랩퍼 클래스</vt:lpstr>
      <vt:lpstr>추상 클래스와 추상 메소드  /추상 클래스와 상속</vt:lpstr>
      <vt:lpstr>인터페이스</vt:lpstr>
      <vt:lpstr>변경자의  개념과 종류</vt:lpstr>
      <vt:lpstr>static 변경자</vt:lpstr>
      <vt:lpstr>final 변경자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장현태</cp:lastModifiedBy>
  <cp:revision>11</cp:revision>
  <dcterms:created xsi:type="dcterms:W3CDTF">2024-01-03T13:33:27Z</dcterms:created>
  <dcterms:modified xsi:type="dcterms:W3CDTF">2024-01-11T06:56:31Z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