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3"/>
  </p:notesMasterIdLst>
  <p:handoutMasterIdLst>
    <p:handoutMasterId r:id="rId14"/>
  </p:handoutMasterIdLst>
  <p:sldIdLst>
    <p:sldId id="3825" r:id="rId5"/>
    <p:sldId id="3827" r:id="rId6"/>
    <p:sldId id="3836" r:id="rId7"/>
    <p:sldId id="3832" r:id="rId8"/>
    <p:sldId id="3843" r:id="rId9"/>
    <p:sldId id="3837" r:id="rId10"/>
    <p:sldId id="3835" r:id="rId11"/>
    <p:sldId id="3841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144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4D597-4836-42AA-8840-ACAAD80842E5}" type="datetime1">
              <a:rPr lang="ko-KR" altLang="en-US" smtClean="0">
                <a:latin typeface="+mj-lt"/>
              </a:rPr>
              <a:t>2024-01-04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F4C1-F197-4411-A8B3-D320801A9BAD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891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08:10.6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0,'776'0,"-752"0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0:20.05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200 124,'175'-123,"-537"376,350-244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0:50.5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351 246,'-340'-238,"329"231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1:15.68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0,'740'0,"-726"0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1:59.32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6099,'0'-6079,"0"6060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3:24.4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341 0,'-331'232,"322"-226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3:47.16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1,'367'257,"-356"-249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4:00.29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0,'442'310,"-849"-595,394 276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4:28.3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11 284,'406'-284,"-809"567,390-274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4:44.29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1,'954'0,"-935"0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5:07.39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0,'0'1054,"0"-1038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5:24.93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0,'1389'0,"-1375"0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7:14.9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0,'776'0,"-752"0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4T04:18:39.27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1,'997'0,"-976"0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C8C1DB09-50C6-4917-B352-F3C3284AAE69}" type="datetime1">
              <a:rPr lang="ko-KR" altLang="en-US" smtClean="0"/>
              <a:pPr/>
              <a:t>2024-01-04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0C6A29-4676-420C-BBE3-ACC2B80F64D4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9152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3213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62526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호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buNone/>
              <a:defRPr/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 작은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lnSpc>
                <a:spcPct val="11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lnSpc>
                <a:spcPct val="11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lnSpc>
                <a:spcPct val="11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호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견적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/>
              <a:pPr>
                <a:defRPr/>
              </a:pPr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3" name="내용 개체 틀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중간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5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00.png"/><Relationship Id="rId21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customXml" Target="../ink/ink6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3.xml"/><Relationship Id="rId11" Type="http://schemas.openxmlformats.org/officeDocument/2006/relationships/image" Target="../media/image14.png"/><Relationship Id="rId24" Type="http://schemas.openxmlformats.org/officeDocument/2006/relationships/customXml" Target="../ink/ink12.xml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image" Target="../media/image22.png"/><Relationship Id="rId10" Type="http://schemas.openxmlformats.org/officeDocument/2006/relationships/customXml" Target="../ink/ink5.xml"/><Relationship Id="rId19" Type="http://schemas.openxmlformats.org/officeDocument/2006/relationships/image" Target="../media/image18.png"/><Relationship Id="rId4" Type="http://schemas.openxmlformats.org/officeDocument/2006/relationships/customXml" Target="../ink/ink2.xml"/><Relationship Id="rId9" Type="http://schemas.openxmlformats.org/officeDocument/2006/relationships/image" Target="../media/image13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customXml" Target="../ink/ink14.xml"/><Relationship Id="rId30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3836" y="2743200"/>
            <a:ext cx="7122196" cy="2386584"/>
          </a:xfrm>
        </p:spPr>
        <p:txBody>
          <a:bodyPr rtlCol="0"/>
          <a:lstStyle/>
          <a:p>
            <a:pPr rtl="0"/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 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1~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67" y="638893"/>
            <a:ext cx="3198812" cy="700238"/>
          </a:xfrm>
        </p:spPr>
        <p:txBody>
          <a:bodyPr rtlCol="0" anchor="b">
            <a:normAutofit/>
          </a:bodyPr>
          <a:lstStyle/>
          <a:p>
            <a:pPr rtl="0"/>
            <a:r>
              <a:rPr lang="ko-KR" altLang="en-US" dirty="0"/>
              <a:t>자바 소개</a:t>
            </a:r>
          </a:p>
        </p:txBody>
      </p:sp>
      <p:pic>
        <p:nvPicPr>
          <p:cNvPr id="1026" name="Picture 2" descr="Java란 무엇인가">
            <a:extLst>
              <a:ext uri="{FF2B5EF4-FFF2-40B4-BE49-F238E27FC236}">
                <a16:creationId xmlns:a16="http://schemas.microsoft.com/office/drawing/2014/main" id="{AD765A5A-6578-C710-2500-28048D3A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6718" y="1549433"/>
            <a:ext cx="4848669" cy="29455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5667" y="1523205"/>
            <a:ext cx="5150333" cy="4444457"/>
          </a:xfrm>
        </p:spPr>
        <p:txBody>
          <a:bodyPr rtlCol="0">
            <a:norm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dirty="0"/>
              <a:t>객체 지향 언어</a:t>
            </a:r>
            <a:endParaRPr lang="en-US" altLang="ko-KR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dirty="0"/>
              <a:t>자바 가상머신</a:t>
            </a:r>
            <a:r>
              <a:rPr lang="en-US" altLang="ko-KR"/>
              <a:t>(JVM)</a:t>
            </a:r>
            <a:endParaRPr lang="en-US" altLang="ko-KR" dirty="0"/>
          </a:p>
          <a:p>
            <a:pPr rtl="0"/>
            <a:r>
              <a:rPr lang="en-US" altLang="ko-KR" dirty="0"/>
              <a:t>    c</a:t>
            </a:r>
            <a:r>
              <a:rPr lang="ko-KR" altLang="en-US" dirty="0"/>
              <a:t>언어가 특정 플랫폼</a:t>
            </a:r>
            <a:r>
              <a:rPr lang="en-US" altLang="ko-KR" dirty="0"/>
              <a:t>(</a:t>
            </a:r>
            <a:r>
              <a:rPr lang="ko-KR" altLang="en-US" dirty="0"/>
              <a:t>하드웨어</a:t>
            </a:r>
            <a:r>
              <a:rPr lang="en-US" altLang="ko-KR" dirty="0"/>
              <a:t>, </a:t>
            </a:r>
            <a:r>
              <a:rPr lang="ko-KR" altLang="en-US" dirty="0"/>
              <a:t>운영체제</a:t>
            </a:r>
            <a:r>
              <a:rPr lang="en-US" altLang="ko-KR" dirty="0"/>
              <a:t>)</a:t>
            </a:r>
            <a:r>
              <a:rPr lang="ko-KR" altLang="en-US" dirty="0"/>
              <a:t>에 종속된</a:t>
            </a:r>
            <a:endParaRPr lang="en-US" altLang="ko-KR" dirty="0"/>
          </a:p>
          <a:p>
            <a:pPr rtl="0"/>
            <a:r>
              <a:rPr lang="en-US" altLang="ko-KR" dirty="0"/>
              <a:t>    </a:t>
            </a:r>
            <a:r>
              <a:rPr lang="ko-KR" altLang="en-US" dirty="0"/>
              <a:t>코드를 생성하지만 자바는 컴파일 하면 </a:t>
            </a:r>
            <a:r>
              <a:rPr lang="en-US" altLang="ko-KR" dirty="0"/>
              <a:t>byte code </a:t>
            </a:r>
          </a:p>
          <a:p>
            <a:pPr rtl="0"/>
            <a:r>
              <a:rPr lang="en-US" altLang="ko-KR" dirty="0"/>
              <a:t>    </a:t>
            </a:r>
            <a:r>
              <a:rPr lang="ko-KR" altLang="en-US" dirty="0"/>
              <a:t>파일을 생성하고 이 파일은 특정 운영체제가 아닌</a:t>
            </a:r>
            <a:endParaRPr lang="en-US" altLang="ko-KR" dirty="0"/>
          </a:p>
          <a:p>
            <a:pPr rtl="0"/>
            <a:r>
              <a:rPr lang="en-US" altLang="ko-KR" dirty="0"/>
              <a:t>   </a:t>
            </a:r>
            <a:r>
              <a:rPr lang="ko-KR" altLang="en-US" dirty="0"/>
              <a:t> 자바 가상 </a:t>
            </a:r>
            <a:r>
              <a:rPr lang="ko-KR" altLang="en-US" dirty="0" err="1"/>
              <a:t>머신으로</a:t>
            </a:r>
            <a:r>
              <a:rPr lang="ko-KR" altLang="en-US" dirty="0"/>
              <a:t> 해석되고 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    </a:t>
            </a:r>
            <a:r>
              <a:rPr lang="ko-KR" altLang="en-US" dirty="0"/>
              <a:t>가상머신은 다양한 운영체제와 하드웨어에서 실행</a:t>
            </a:r>
            <a:endParaRPr lang="en-US" altLang="ko-KR" dirty="0"/>
          </a:p>
          <a:p>
            <a:pPr rtl="0"/>
            <a:r>
              <a:rPr lang="en-US" altLang="ko-KR" dirty="0"/>
              <a:t>    </a:t>
            </a:r>
            <a:r>
              <a:rPr lang="ko-KR" altLang="en-US" dirty="0"/>
              <a:t>할 수 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    </a:t>
            </a:r>
          </a:p>
          <a:p>
            <a:pPr rtl="0"/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96B342A5-1683-4650-BB07-B98D8B23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ko-KR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496A5-8DC3-DF57-2519-A5DE1CBE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클래스의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E4AAF7-E8AD-55BA-A924-BBC2459E2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객체지향 프로그래밍 언어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0A2FD4-1AB9-87AC-F1F5-A75E4947F9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모임으로 보고 </a:t>
            </a:r>
            <a:r>
              <a:rPr lang="ko-KR" altLang="en-US" dirty="0" err="1"/>
              <a:t>이들간의</a:t>
            </a:r>
            <a:r>
              <a:rPr lang="ko-KR" altLang="en-US" dirty="0"/>
              <a:t> 상호작용을 정의해 애플리케이션을 설계하는 방법이다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998E53-DDB4-9586-EE09-2387DBDBD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클래스의 정의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FE9585-05F3-1C4C-2A75-5ADBE54D7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2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3A0E06-1ADC-DC43-2823-71AB5912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51F7355E-0D86-D39E-49D2-4A5B1A178B0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클래스는 객체를 만들어내는 틀</a:t>
            </a:r>
            <a:r>
              <a:rPr lang="en-US" altLang="ko-KR" sz="2000" dirty="0"/>
              <a:t>            (=</a:t>
            </a:r>
            <a:r>
              <a:rPr lang="ko-KR" altLang="en-US" sz="2000" dirty="0"/>
              <a:t>객체를 표현하는 추상 데이터 타입</a:t>
            </a:r>
            <a:r>
              <a:rPr lang="en-US" altLang="ko-KR" sz="2000" dirty="0"/>
              <a:t>)</a:t>
            </a:r>
          </a:p>
          <a:p>
            <a:r>
              <a:rPr lang="ko-KR" altLang="en-US" sz="2000" dirty="0"/>
              <a:t>속성이 동일한 객체들을 포괄하는 상위 개념</a:t>
            </a:r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9D9154B-6346-FA0F-41C5-F50B9D30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24" y="3826890"/>
            <a:ext cx="4875823" cy="113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7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EB8CC-E887-4C39-A032-E3471EDC0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클래스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B28E79-36F1-4487-B6B6-7A33F5C3C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2000" dirty="0"/>
              <a:t>자바 가상머신과 자바 소스 실행 단계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E97EE603-023D-F94D-EBDB-DA8892DC92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825264"/>
            <a:ext cx="3292475" cy="3044209"/>
          </a:xfr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4C5B2A-12FB-43E3-8389-C0A5E65E6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main()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C09F06-9236-4635-AFB4-5E7D384A6BA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sz="1800" dirty="0"/>
              <a:t>public:</a:t>
            </a:r>
            <a:r>
              <a:rPr lang="ko-KR" altLang="en-US" sz="1800" dirty="0"/>
              <a:t> 외부 객체가 객체 내에</a:t>
            </a:r>
            <a:r>
              <a:rPr lang="en-US" altLang="ko-KR" sz="1800" dirty="0"/>
              <a:t> </a:t>
            </a:r>
            <a:r>
              <a:rPr lang="ko-KR" altLang="en-US" sz="1800" dirty="0"/>
              <a:t>있는 메소드에 접근할 수 있다</a:t>
            </a:r>
            <a:r>
              <a:rPr lang="en-US" altLang="ko-KR" sz="1800" dirty="0"/>
              <a:t>.</a:t>
            </a:r>
          </a:p>
          <a:p>
            <a:pPr rtl="0"/>
            <a:r>
              <a:rPr lang="en-US" altLang="ko-KR" sz="1800" dirty="0"/>
              <a:t>static: </a:t>
            </a:r>
            <a:r>
              <a:rPr lang="ko-KR" altLang="en-US" sz="1800" dirty="0"/>
              <a:t>객체가</a:t>
            </a:r>
            <a:r>
              <a:rPr lang="en-US" altLang="ko-KR" sz="1800" dirty="0"/>
              <a:t> </a:t>
            </a:r>
            <a:r>
              <a:rPr lang="ko-KR" altLang="en-US" sz="1800" dirty="0"/>
              <a:t>생성되지 않아도 해당 메소드를 실행할 수 있다</a:t>
            </a:r>
            <a:r>
              <a:rPr lang="en-US" altLang="ko-KR" sz="1800" dirty="0"/>
              <a:t>.</a:t>
            </a:r>
          </a:p>
          <a:p>
            <a:pPr rtl="0"/>
            <a:r>
              <a:rPr lang="en-US" altLang="ko-KR" sz="1800" dirty="0"/>
              <a:t>v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oid: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메소드를 수행한 뒤에 반환하는 값의 형태를 지정하지 않는다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16D0387-7057-4207-9037-65B55A7B2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System.out</a:t>
            </a:r>
            <a:r>
              <a:rPr lang="en-US" altLang="ko-KR" dirty="0" err="1"/>
              <a:t>.println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E1302F8-9FA6-4CC4-AD07-E8137FCC99A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pPr rtl="0"/>
            <a:r>
              <a:rPr lang="ko-KR" altLang="en-US" sz="1800" dirty="0"/>
              <a:t>메시지를 출력하는 명령어</a:t>
            </a:r>
            <a:endParaRPr lang="en-US" altLang="ko-KR" sz="1800" dirty="0"/>
          </a:p>
          <a:p>
            <a:pPr rtl="0"/>
            <a:r>
              <a:rPr lang="en-US" altLang="ko-KR" dirty="0"/>
              <a:t>System</a:t>
            </a:r>
            <a:r>
              <a:rPr lang="ko-KR" altLang="en-US" dirty="0"/>
              <a:t>는 클래스명</a:t>
            </a:r>
            <a:endParaRPr lang="en-US" altLang="ko-KR" dirty="0"/>
          </a:p>
          <a:p>
            <a:pPr rtl="0"/>
            <a:r>
              <a:rPr lang="en-US" altLang="ko-KR" dirty="0"/>
              <a:t>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tatic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 속성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r>
              <a:rPr lang="en-US" altLang="ko-KR" dirty="0" err="1"/>
              <a:t>p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rintln</a:t>
            </a:r>
            <a:r>
              <a:rPr lang="ko-KR" altLang="en-US" dirty="0"/>
              <a:t>은 </a:t>
            </a:r>
            <a:r>
              <a:rPr lang="en-US" altLang="ko-KR" dirty="0"/>
              <a:t>out </a:t>
            </a:r>
            <a:r>
              <a:rPr lang="ko-KR" altLang="en-US" dirty="0"/>
              <a:t>속성의 </a:t>
            </a:r>
            <a:r>
              <a:rPr lang="en-US" altLang="ko-KR" dirty="0" err="1"/>
              <a:t>println</a:t>
            </a:r>
            <a:r>
              <a:rPr lang="ko-KR" altLang="en-US" dirty="0"/>
              <a:t> 메소드</a:t>
            </a:r>
            <a:endParaRPr lang="en-US" altLang="ko-KR" dirty="0"/>
          </a:p>
          <a:p>
            <a:pPr marL="0" indent="0" rtl="0">
              <a:buNone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0355C492-B5A1-4AEA-87B3-88D8AB07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2</a:t>
            </a:r>
            <a:endParaRPr lang="ko-KR" altLang="en-US" sz="1200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68ED6379-8C31-4483-A809-D0E84782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ko-KR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4552861-7C6D-7E0F-E39F-F6744D006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5593"/>
            <a:ext cx="3076201" cy="144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9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EAC90-B841-5A5E-8D59-4DA71BE5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4107"/>
            <a:ext cx="3932237" cy="669471"/>
          </a:xfrm>
        </p:spPr>
        <p:txBody>
          <a:bodyPr/>
          <a:lstStyle/>
          <a:p>
            <a:r>
              <a:rPr lang="ko-KR" altLang="en-US" dirty="0"/>
              <a:t>패키지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929E0C-C5D7-FCFC-CAC0-E616D6F89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873579"/>
            <a:ext cx="3932237" cy="1956248"/>
          </a:xfrm>
        </p:spPr>
        <p:txBody>
          <a:bodyPr/>
          <a:lstStyle/>
          <a:p>
            <a:r>
              <a:rPr lang="ko-KR" altLang="en-US" dirty="0"/>
              <a:t>서로 관련 있는 클래스나 인터페이스를 하나의 이름으로 묶은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자바 기본 패키지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Import</a:t>
            </a:r>
            <a:r>
              <a:rPr lang="ko-KR" altLang="en-US" sz="1200" dirty="0"/>
              <a:t>키워드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ko-KR" altLang="en-US" dirty="0"/>
              <a:t>사용자 정의  패키지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364819-8094-B203-92CB-420B4EBC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2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0223A4-1297-FA85-C281-38078FA9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A18C4C-A89D-6093-8E20-6240C20FF0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37" y="681073"/>
            <a:ext cx="610552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6A0923B1-DA96-18F6-18F8-D33FADD21315}"/>
              </a:ext>
            </a:extLst>
          </p:cNvPr>
          <p:cNvSpPr txBox="1">
            <a:spLocks/>
          </p:cNvSpPr>
          <p:nvPr/>
        </p:nvSpPr>
        <p:spPr>
          <a:xfrm>
            <a:off x="953687" y="3429000"/>
            <a:ext cx="10288620" cy="1956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장점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클래스를 하나의 단위로 제공하여 다양한 클래스를 체계적으로 관리할 수 있다</a:t>
            </a:r>
            <a:r>
              <a:rPr lang="en-US" altLang="ko-KR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클래스명을 패키지명으로 사용하여 클래스명을 작성할 때 발생할 수 있는 혼란을 막을 수 있다</a:t>
            </a:r>
            <a:r>
              <a:rPr lang="en-US" altLang="ko-KR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접근 권한을 패키지 단위로 지정하므로 다양한 방법으로 접근 권한을 제어할 수 있다</a:t>
            </a:r>
            <a:r>
              <a:rPr lang="en-US" altLang="ko-KR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자신이 개발한 패키지를 기존 패키지에 쉽게 추가할 수 있다</a:t>
            </a:r>
            <a:r>
              <a:rPr lang="en-US" altLang="ko-KR" sz="1200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205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FBC1E-97F8-E0B4-2ACA-7465D58F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논리형</a:t>
            </a:r>
            <a:r>
              <a:rPr lang="en-US" altLang="ko-KR" dirty="0"/>
              <a:t>(</a:t>
            </a:r>
            <a:r>
              <a:rPr lang="en-US" altLang="ko-KR" dirty="0" err="1"/>
              <a:t>boolean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B85CF5B2-BA4C-2311-1C0B-CE858D780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7862" y="1144581"/>
            <a:ext cx="4153480" cy="2324424"/>
          </a:xfr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E1002E-E7C7-42F4-A2FB-23836DB2C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참값과</a:t>
            </a:r>
            <a:r>
              <a:rPr lang="en-US" altLang="ko-KR" dirty="0"/>
              <a:t> </a:t>
            </a:r>
            <a:r>
              <a:rPr lang="ko-KR" altLang="en-US" dirty="0" err="1"/>
              <a:t>거짓값을</a:t>
            </a:r>
            <a:r>
              <a:rPr lang="ko-KR" altLang="en-US" dirty="0"/>
              <a:t> 저장하는 데이터 타입</a:t>
            </a:r>
            <a:endParaRPr lang="en-US" altLang="ko-KR" dirty="0"/>
          </a:p>
          <a:p>
            <a:r>
              <a:rPr lang="en-US" altLang="ko-KR" dirty="0" err="1"/>
              <a:t>boolean</a:t>
            </a:r>
            <a:r>
              <a:rPr lang="en-US" altLang="ko-KR" dirty="0"/>
              <a:t>[</a:t>
            </a:r>
            <a:r>
              <a:rPr lang="ko-KR" altLang="en-US" dirty="0" err="1"/>
              <a:t>변수명</a:t>
            </a:r>
            <a:r>
              <a:rPr lang="en-US" altLang="ko-KR" dirty="0"/>
              <a:t>];</a:t>
            </a:r>
          </a:p>
          <a:p>
            <a:r>
              <a:rPr lang="en-US" altLang="ko-KR" dirty="0" err="1"/>
              <a:t>boolean</a:t>
            </a:r>
            <a:r>
              <a:rPr lang="en-US" altLang="ko-KR" dirty="0"/>
              <a:t>[</a:t>
            </a:r>
            <a:r>
              <a:rPr lang="ko-KR" altLang="en-US" dirty="0" err="1"/>
              <a:t>변수명</a:t>
            </a:r>
            <a:r>
              <a:rPr lang="en-US" altLang="ko-KR" dirty="0"/>
              <a:t>]=[</a:t>
            </a:r>
            <a:r>
              <a:rPr lang="ko-KR" altLang="en-US" dirty="0"/>
              <a:t>초기값</a:t>
            </a:r>
            <a:r>
              <a:rPr lang="en-US" altLang="ko-KR" dirty="0"/>
              <a:t>];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552692-3539-D01D-026A-97F94BF5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3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E39784-45E6-F2CE-6FA4-76943E01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ECC2113-E8A3-E279-8D33-136A8FE0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3280410"/>
            <a:ext cx="4114801" cy="3771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20ACF1C-EE25-8642-6954-66314146E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561" y="3956367"/>
            <a:ext cx="1856831" cy="51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6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6958F-58FB-4D55-A3D5-968EB608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479"/>
            <a:ext cx="5340576" cy="1200831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객체지향의 정의와 주요개념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04F515-140E-3046-F1EB-0331FB09A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748" y="850445"/>
            <a:ext cx="3291840" cy="553811"/>
          </a:xfrm>
        </p:spPr>
        <p:txBody>
          <a:bodyPr/>
          <a:lstStyle/>
          <a:p>
            <a:r>
              <a:rPr lang="ko-KR" altLang="en-US" dirty="0"/>
              <a:t>객체지향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2D34AF-6AD3-CB73-5B8C-94E5BF9B9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748" y="1404254"/>
            <a:ext cx="3291840" cy="4163788"/>
          </a:xfrm>
        </p:spPr>
        <p:txBody>
          <a:bodyPr/>
          <a:lstStyle/>
          <a:p>
            <a:r>
              <a:rPr lang="ko-KR" altLang="en-US" sz="1200" dirty="0"/>
              <a:t>클래스를 이용해 구체화 된 모델을 객체라고 한다 </a:t>
            </a:r>
            <a:endParaRPr lang="en-US" altLang="ko-KR" sz="1200" dirty="0"/>
          </a:p>
          <a:p>
            <a:r>
              <a:rPr lang="ko-KR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객체를 생성하는 데 클래스를 사용한다</a:t>
            </a:r>
            <a:r>
              <a:rPr lang="en-US" altLang="ko-KR" sz="12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sz="1200" dirty="0"/>
              <a:t>클래스를 이용하여 객체를 생성하는 행위는 인스턴스화 </a:t>
            </a:r>
            <a:r>
              <a:rPr lang="ko-KR" altLang="en-US" sz="1200" dirty="0" err="1"/>
              <a:t>라고</a:t>
            </a:r>
            <a:r>
              <a:rPr lang="ko-KR" altLang="en-US" sz="1200" dirty="0"/>
              <a:t> 한다</a:t>
            </a:r>
          </a:p>
          <a:p>
            <a:r>
              <a:rPr lang="ko-KR" altLang="en-US" sz="1200" dirty="0"/>
              <a:t>객체를 생성할 때 </a:t>
            </a:r>
            <a:r>
              <a:rPr lang="en-US" altLang="ko-KR" sz="1200" dirty="0"/>
              <a:t>new</a:t>
            </a:r>
            <a:r>
              <a:rPr lang="ko-KR" altLang="en-US" sz="1200" dirty="0"/>
              <a:t>키워드를 사용한다</a:t>
            </a:r>
            <a:endParaRPr lang="en-US" altLang="ko-KR" sz="1200" dirty="0"/>
          </a:p>
          <a:p>
            <a:r>
              <a:rPr lang="ko-KR" altLang="en-US" sz="1200" dirty="0"/>
              <a:t>캡슐화</a:t>
            </a:r>
            <a:endParaRPr lang="en-US" altLang="ko-KR" sz="1200" dirty="0"/>
          </a:p>
          <a:p>
            <a:r>
              <a:rPr lang="ko-KR" altLang="en-US" sz="1200" dirty="0" err="1"/>
              <a:t>상속성</a:t>
            </a:r>
            <a:endParaRPr lang="en-US" altLang="ko-KR" sz="1200" dirty="0"/>
          </a:p>
          <a:p>
            <a:r>
              <a:rPr lang="ko-KR" altLang="en-US" sz="1200" dirty="0" err="1"/>
              <a:t>다형성</a:t>
            </a:r>
            <a:endParaRPr lang="ko-KR" altLang="en-US" sz="12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1200" dirty="0"/>
              <a:t>클래스명  참조변수명 </a:t>
            </a:r>
            <a:r>
              <a:rPr lang="en-US" altLang="ko-KR" sz="1200" dirty="0"/>
              <a:t>= new </a:t>
            </a:r>
            <a:r>
              <a:rPr lang="ko-KR" altLang="en-US" sz="1200" dirty="0"/>
              <a:t>클래스 생성자</a:t>
            </a:r>
            <a:r>
              <a:rPr lang="en-US" altLang="ko-KR" sz="1200" dirty="0"/>
              <a:t>;</a:t>
            </a:r>
            <a:endParaRPr lang="ko-KR" altLang="en-US" sz="12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8EC8E5-0097-6582-BDDF-AA90AAA0A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0080" y="850445"/>
            <a:ext cx="3291840" cy="553811"/>
          </a:xfrm>
        </p:spPr>
        <p:txBody>
          <a:bodyPr/>
          <a:lstStyle/>
          <a:p>
            <a:r>
              <a:rPr lang="ko-KR" altLang="en-US" dirty="0"/>
              <a:t>필드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71D1BA-4957-9280-658C-E8E5B0F94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0080" y="1404254"/>
            <a:ext cx="3291840" cy="4163787"/>
          </a:xfrm>
        </p:spPr>
        <p:txBody>
          <a:bodyPr/>
          <a:lstStyle/>
          <a:p>
            <a:r>
              <a:rPr lang="ko-KR" altLang="ko-KR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객체를 구분하는 특성을 저장하는 변수</a:t>
            </a:r>
            <a:r>
              <a:rPr lang="en-US" altLang="ko-KR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클래스의 데이터 </a:t>
            </a:r>
            <a:r>
              <a:rPr lang="ko-KR" altLang="ko-KR" sz="12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맴버</a:t>
            </a:r>
            <a:endParaRPr lang="en-US" altLang="ko-KR" sz="12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ko-KR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인스턴스 </a:t>
            </a:r>
            <a:r>
              <a:rPr lang="ko-KR" altLang="en-US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변수</a:t>
            </a:r>
            <a:endParaRPr lang="en-US" altLang="ko-KR" sz="12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</a:rPr>
              <a:t>-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객체의 고유 특성을 저장하는 변수</a:t>
            </a:r>
            <a:endParaRPr lang="en-US" altLang="ko-KR" sz="12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2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객체를 생성할 때 마다 독립적인 메모리 공간을 확보한다</a:t>
            </a:r>
            <a:endParaRPr lang="en-US" altLang="ko-KR" sz="1200" dirty="0">
              <a:cs typeface="Times New Roman" panose="02020603050405020304" pitchFamily="18" charset="0"/>
            </a:endParaRPr>
          </a:p>
          <a:p>
            <a:r>
              <a:rPr lang="ko-KR" altLang="en-US" sz="1200" dirty="0"/>
              <a:t>클래스 변수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각 클래스에서 오직 하나의 메모리 공간만 갖는 변수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클래스에서 인스턴스 되는 모든 객체에 공유할 수 있다</a:t>
            </a:r>
            <a:r>
              <a:rPr lang="en-US" altLang="ko-KR" sz="1200" dirty="0"/>
              <a:t>. </a:t>
            </a:r>
          </a:p>
          <a:p>
            <a:pPr marL="0" indent="0"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객체를 생성하지 않아도 되고 </a:t>
            </a:r>
            <a:r>
              <a:rPr lang="en-US" altLang="ko-KR" sz="1200" dirty="0"/>
              <a:t>static</a:t>
            </a:r>
            <a:r>
              <a:rPr lang="ko-KR" altLang="en-US" sz="1200" dirty="0"/>
              <a:t> 키워드로 선언된다</a:t>
            </a:r>
            <a:r>
              <a:rPr lang="en-US" altLang="ko-KR" sz="1200" dirty="0"/>
              <a:t>. </a:t>
            </a:r>
          </a:p>
          <a:p>
            <a:pPr marL="0" indent="0">
              <a:buNone/>
            </a:pPr>
            <a:endParaRPr lang="ko-KR" altLang="en-US" sz="140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F6EB0A-F867-1131-5D31-FCBCB84B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09632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4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A8C615-1351-59A1-7C3C-47383C7F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14A5B76-CA74-FBC7-FD07-0DDC79DBE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9783" y="938892"/>
            <a:ext cx="3291840" cy="465363"/>
          </a:xfrm>
        </p:spPr>
        <p:txBody>
          <a:bodyPr/>
          <a:lstStyle/>
          <a:p>
            <a:r>
              <a:rPr lang="ko-KR" altLang="en-US" dirty="0"/>
              <a:t>메소드</a:t>
            </a:r>
            <a:endParaRPr lang="en-US" altLang="ko-KR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A009979-EEA5-1920-6C58-4B6CDA2951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412" y="1404253"/>
            <a:ext cx="3291840" cy="4163786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클래스 내부 속성을 이용해 특정한 일을 수행하거나 외부 객체와 인터페이스를 제공한다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인스턴스 메소드</a:t>
            </a:r>
            <a:r>
              <a:rPr lang="en-US" altLang="ko-KR" sz="1200" dirty="0"/>
              <a:t>                               </a:t>
            </a:r>
            <a:r>
              <a:rPr lang="ko-KR" altLang="en-US" sz="1200" dirty="0"/>
              <a:t>항상 객체에 포함</a:t>
            </a:r>
            <a:r>
              <a:rPr lang="en-US" altLang="ko-KR" sz="1200" dirty="0"/>
              <a:t>, </a:t>
            </a:r>
            <a:r>
              <a:rPr lang="ko-KR" altLang="en-US" sz="1200" dirty="0"/>
              <a:t>객체를 정의해야 호출할 수 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클래스 메소드</a:t>
            </a:r>
            <a:r>
              <a:rPr lang="en-US" altLang="ko-KR" sz="1200" dirty="0"/>
              <a:t>(=</a:t>
            </a:r>
            <a:r>
              <a:rPr lang="ko-KR" altLang="en-US" sz="1200" dirty="0"/>
              <a:t>정직 메소드</a:t>
            </a:r>
            <a:r>
              <a:rPr lang="en-US" altLang="ko-KR" sz="1200" dirty="0"/>
              <a:t>)                     </a:t>
            </a:r>
            <a:r>
              <a:rPr lang="ko-KR" altLang="en-US" sz="1200" dirty="0"/>
              <a:t>항상 </a:t>
            </a:r>
            <a:r>
              <a:rPr lang="en-US" altLang="ko-KR" sz="1200" dirty="0"/>
              <a:t>static</a:t>
            </a:r>
            <a:r>
              <a:rPr lang="ko-KR" altLang="en-US" sz="1200" dirty="0"/>
              <a:t>으로 선언</a:t>
            </a:r>
            <a:r>
              <a:rPr lang="en-US" altLang="ko-KR" sz="1200" dirty="0"/>
              <a:t>, </a:t>
            </a:r>
            <a:r>
              <a:rPr lang="ko-KR" altLang="en-US" sz="1200" dirty="0"/>
              <a:t>객체가 없이 클래스 명을 이용해 접근 할 수 있다</a:t>
            </a:r>
            <a:endParaRPr lang="en-US" altLang="ko-KR" sz="1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2650963-979B-81A5-7188-4F2C183E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709" y="4617537"/>
            <a:ext cx="3238952" cy="676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250FD7A-17E9-6C7E-55AB-728ED7D49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321" y="3429000"/>
            <a:ext cx="3258302" cy="101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8B25E-78BF-2FB5-CC4B-DA0E4A6D0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39259"/>
            <a:ext cx="3932237" cy="555171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참조변수와 객체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16F194-AE13-D7FD-3615-455CA590C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794430"/>
            <a:ext cx="3932237" cy="5074558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인스턴스화된</a:t>
            </a:r>
            <a:r>
              <a:rPr lang="ko-KR" altLang="en-US" sz="1200" dirty="0"/>
              <a:t> 객체에 접근하려고 만든 변수의 일종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B90993-78C0-A057-EB33-BB9B78E5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4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7C9C6-1F29-C9AE-FD0D-C6EE86E4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101A9B9-A75B-6E8B-C5DE-A65E1E447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160223"/>
              </p:ext>
            </p:extLst>
          </p:nvPr>
        </p:nvGraphicFramePr>
        <p:xfrm>
          <a:off x="1383157" y="1349601"/>
          <a:ext cx="1557223" cy="442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223">
                  <a:extLst>
                    <a:ext uri="{9D8B030D-6E8A-4147-A177-3AD203B41FA5}">
                      <a16:colId xmlns:a16="http://schemas.microsoft.com/office/drawing/2014/main" val="1433355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41226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인스턴스된</a:t>
                      </a:r>
                      <a:r>
                        <a:rPr lang="ko-KR" altLang="en-US" sz="1200" dirty="0"/>
                        <a:t> 객체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225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87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</a:t>
                      </a:r>
                    </a:p>
                    <a:p>
                      <a:pPr algn="ctr" latinLnBrk="1"/>
                      <a:r>
                        <a:rPr lang="en-US" altLang="ko-KR" dirty="0"/>
                        <a:t>.</a:t>
                      </a:r>
                    </a:p>
                    <a:p>
                      <a:pPr algn="ctr" latinLnBrk="1"/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543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객체변수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3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참조변수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66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240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</a:t>
                      </a:r>
                    </a:p>
                    <a:p>
                      <a:pPr algn="ctr" latinLnBrk="1"/>
                      <a:r>
                        <a:rPr lang="en-US" altLang="ko-KR" dirty="0"/>
                        <a:t>.</a:t>
                      </a:r>
                    </a:p>
                    <a:p>
                      <a:pPr algn="ctr" latinLnBrk="1"/>
                      <a:r>
                        <a:rPr lang="en-US" altLang="ko-KR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84488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ED42B05-FDB8-B75C-20D3-47352601B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852127"/>
              </p:ext>
            </p:extLst>
          </p:nvPr>
        </p:nvGraphicFramePr>
        <p:xfrm>
          <a:off x="3830529" y="3986771"/>
          <a:ext cx="1180754" cy="337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754">
                  <a:extLst>
                    <a:ext uri="{9D8B030D-6E8A-4147-A177-3AD203B41FA5}">
                      <a16:colId xmlns:a16="http://schemas.microsoft.com/office/drawing/2014/main" val="2838920148"/>
                    </a:ext>
                  </a:extLst>
                </a:gridCol>
              </a:tblGrid>
              <a:tr h="3379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외부 객체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0781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96B3FC17-20E9-53B6-3854-A6E8CA91A084}"/>
                  </a:ext>
                </a:extLst>
              </p14:cNvPr>
              <p14:cNvContentPartPr/>
              <p14:nvPr/>
            </p14:nvContentPartPr>
            <p14:xfrm>
              <a:off x="1094827" y="3942013"/>
              <a:ext cx="288329" cy="3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96B3FC17-20E9-53B6-3854-A6E8CA91A0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8708" y="3935893"/>
                <a:ext cx="300568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28D26745-78E0-192D-915F-8838973E3833}"/>
                  </a:ext>
                </a:extLst>
              </p14:cNvPr>
              <p14:cNvContentPartPr/>
              <p14:nvPr/>
            </p14:nvContentPartPr>
            <p14:xfrm>
              <a:off x="1241021" y="2140064"/>
              <a:ext cx="134874" cy="94493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28D26745-78E0-192D-915F-8838973E38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907" y="2133956"/>
                <a:ext cx="147103" cy="106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15025C17-543C-0309-44A1-AE82AE1649D0}"/>
                  </a:ext>
                </a:extLst>
              </p14:cNvPr>
              <p14:cNvContentPartPr/>
              <p14:nvPr/>
            </p14:nvContentPartPr>
            <p14:xfrm>
              <a:off x="1249535" y="2041213"/>
              <a:ext cx="126360" cy="8856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15025C17-543C-0309-44A1-AE82AE1649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3415" y="2035093"/>
                <a:ext cx="138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2E3BD93C-1C43-45FA-6EAF-C592D81545EE}"/>
                  </a:ext>
                </a:extLst>
              </p14:cNvPr>
              <p14:cNvContentPartPr/>
              <p14:nvPr/>
            </p14:nvContentPartPr>
            <p14:xfrm>
              <a:off x="1104095" y="2129773"/>
              <a:ext cx="271800" cy="3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2E3BD93C-1C43-45FA-6EAF-C592D81545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7975" y="2123653"/>
                <a:ext cx="284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02A593EC-42DF-852C-A5EE-61190F3B4FC1}"/>
                  </a:ext>
                </a:extLst>
              </p14:cNvPr>
              <p14:cNvContentPartPr/>
              <p14:nvPr/>
            </p14:nvContentPartPr>
            <p14:xfrm>
              <a:off x="1084891" y="2130133"/>
              <a:ext cx="360" cy="219564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02A593EC-42DF-852C-A5EE-61190F3B4F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8771" y="2124013"/>
                <a:ext cx="12600" cy="22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DE7A57FB-E8E2-E9B2-8469-AFB92400E4A0}"/>
                  </a:ext>
                </a:extLst>
              </p14:cNvPr>
              <p14:cNvContentPartPr/>
              <p14:nvPr/>
            </p14:nvContentPartPr>
            <p14:xfrm>
              <a:off x="2947642" y="3856037"/>
              <a:ext cx="122645" cy="85975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DE7A57FB-E8E2-E9B2-8469-AFB92400E4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41528" y="3849922"/>
                <a:ext cx="134874" cy="98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2D124D63-A492-CA54-800F-BDBA94F58ABA}"/>
                  </a:ext>
                </a:extLst>
              </p14:cNvPr>
              <p14:cNvContentPartPr/>
              <p14:nvPr/>
            </p14:nvContentPartPr>
            <p14:xfrm>
              <a:off x="2940380" y="3942012"/>
              <a:ext cx="136440" cy="9576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2D124D63-A492-CA54-800F-BDBA94F58AB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34260" y="3935892"/>
                <a:ext cx="1486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B534FDB2-5F95-83D2-2F5F-345831FA359B}"/>
                  </a:ext>
                </a:extLst>
              </p14:cNvPr>
              <p14:cNvContentPartPr/>
              <p14:nvPr/>
            </p14:nvContentPartPr>
            <p14:xfrm>
              <a:off x="2939626" y="4325773"/>
              <a:ext cx="159480" cy="11160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B534FDB2-5F95-83D2-2F5F-345831FA35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33506" y="4319653"/>
                <a:ext cx="1717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42161F28-A335-B4E0-FF90-60D51D01B9D3}"/>
                  </a:ext>
                </a:extLst>
              </p14:cNvPr>
              <p14:cNvContentPartPr/>
              <p14:nvPr/>
            </p14:nvContentPartPr>
            <p14:xfrm>
              <a:off x="2950066" y="4220293"/>
              <a:ext cx="150120" cy="10548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42161F28-A335-B4E0-FF90-60D51D01B9D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43946" y="4214173"/>
                <a:ext cx="1623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E9497928-B561-3B42-6D2C-D2794301D8CD}"/>
                  </a:ext>
                </a:extLst>
              </p14:cNvPr>
              <p14:cNvContentPartPr/>
              <p14:nvPr/>
            </p14:nvContentPartPr>
            <p14:xfrm>
              <a:off x="2957202" y="3940229"/>
              <a:ext cx="350640" cy="36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E9497928-B561-3B42-6D2C-D2794301D8C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51082" y="3934109"/>
                <a:ext cx="362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0A1FFF16-15C1-CE03-C225-E6EA6D784910}"/>
                  </a:ext>
                </a:extLst>
              </p14:cNvPr>
              <p14:cNvContentPartPr/>
              <p14:nvPr/>
            </p14:nvContentPartPr>
            <p14:xfrm>
              <a:off x="3316077" y="3940229"/>
              <a:ext cx="360" cy="385544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0A1FFF16-15C1-CE03-C225-E6EA6D78491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09957" y="3934109"/>
                <a:ext cx="12600" cy="397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BD9329B8-4D1C-6A26-39AD-6354E7533EE9}"/>
                  </a:ext>
                </a:extLst>
              </p14:cNvPr>
              <p14:cNvContentPartPr/>
              <p14:nvPr/>
            </p14:nvContentPartPr>
            <p14:xfrm>
              <a:off x="3316077" y="4129706"/>
              <a:ext cx="505620" cy="360"/>
            </p14:xfrm>
          </p:contentPart>
        </mc:Choice>
        <mc:Fallback xmlns=""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BD9329B8-4D1C-6A26-39AD-6354E7533EE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09959" y="4123586"/>
                <a:ext cx="517856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0154FFAB-08A9-684A-B3C6-3363787AF337}"/>
                  </a:ext>
                </a:extLst>
              </p14:cNvPr>
              <p14:cNvContentPartPr/>
              <p14:nvPr/>
            </p14:nvContentPartPr>
            <p14:xfrm>
              <a:off x="1094828" y="4325773"/>
              <a:ext cx="288328" cy="36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0154FFAB-08A9-684A-B3C6-3363787AF3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8709" y="4319653"/>
                <a:ext cx="300567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D9A42700-C010-F3EF-27C9-CC75C93C0503}"/>
                  </a:ext>
                </a:extLst>
              </p14:cNvPr>
              <p14:cNvContentPartPr/>
              <p14:nvPr/>
            </p14:nvContentPartPr>
            <p14:xfrm>
              <a:off x="2949383" y="4325773"/>
              <a:ext cx="366694" cy="36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D9A42700-C010-F3EF-27C9-CC75C93C050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43259" y="4319653"/>
                <a:ext cx="378941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8" name="내용 개체 틀 57">
            <a:extLst>
              <a:ext uri="{FF2B5EF4-FFF2-40B4-BE49-F238E27FC236}">
                <a16:creationId xmlns:a16="http://schemas.microsoft.com/office/drawing/2014/main" id="{0F9C674C-1092-5A4B-794B-A47819827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9"/>
          <a:stretch>
            <a:fillRect/>
          </a:stretch>
        </p:blipFill>
        <p:spPr>
          <a:xfrm>
            <a:off x="5315394" y="946866"/>
            <a:ext cx="4849142" cy="2822929"/>
          </a:xfr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0234C67-A860-3264-3788-B262C7A43B0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17556" y="3991693"/>
            <a:ext cx="1087817" cy="45719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47EB83A-DF70-4F6B-E4BA-308EA8EC71CF}"/>
              </a:ext>
            </a:extLst>
          </p:cNvPr>
          <p:cNvSpPr txBox="1"/>
          <p:nvPr/>
        </p:nvSpPr>
        <p:spPr>
          <a:xfrm>
            <a:off x="3068274" y="3323960"/>
            <a:ext cx="1703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필드 접근이나</a:t>
            </a:r>
            <a:endParaRPr lang="en-US" altLang="ko-KR" sz="1000" dirty="0"/>
          </a:p>
          <a:p>
            <a:r>
              <a:rPr lang="ko-KR" altLang="en-US" sz="1000" dirty="0"/>
              <a:t>메소드를 이용한</a:t>
            </a:r>
            <a:endParaRPr lang="en-US" altLang="ko-KR" sz="1000" dirty="0"/>
          </a:p>
          <a:p>
            <a:r>
              <a:rPr lang="ko-KR" altLang="en-US" sz="1000" dirty="0"/>
              <a:t>필드 접근</a:t>
            </a:r>
            <a:endParaRPr lang="en-US" altLang="ko-KR" sz="1000" dirty="0"/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034B1222-DCE6-8C06-2666-F26A6E458913}"/>
              </a:ext>
            </a:extLst>
          </p:cNvPr>
          <p:cNvSpPr/>
          <p:nvPr/>
        </p:nvSpPr>
        <p:spPr>
          <a:xfrm>
            <a:off x="867559" y="1349599"/>
            <a:ext cx="203555" cy="274705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왼쪽 중괄호 62">
            <a:extLst>
              <a:ext uri="{FF2B5EF4-FFF2-40B4-BE49-F238E27FC236}">
                <a16:creationId xmlns:a16="http://schemas.microsoft.com/office/drawing/2014/main" id="{8CB55CE1-F612-2559-D4B6-CB162EF04719}"/>
              </a:ext>
            </a:extLst>
          </p:cNvPr>
          <p:cNvSpPr/>
          <p:nvPr/>
        </p:nvSpPr>
        <p:spPr>
          <a:xfrm>
            <a:off x="865630" y="4096652"/>
            <a:ext cx="203555" cy="166297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81B5DE-2018-B307-B1EE-9C0E6071BFED}"/>
              </a:ext>
            </a:extLst>
          </p:cNvPr>
          <p:cNvSpPr txBox="1"/>
          <p:nvPr/>
        </p:nvSpPr>
        <p:spPr>
          <a:xfrm>
            <a:off x="213394" y="2600015"/>
            <a:ext cx="774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heep</a:t>
            </a:r>
            <a:r>
              <a:rPr lang="ko-KR" altLang="en-US" sz="1000" dirty="0"/>
              <a:t>영역</a:t>
            </a:r>
            <a:endParaRPr lang="en-US" altLang="ko-KR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6223E5-51D6-A580-6546-DD18CBB99134}"/>
              </a:ext>
            </a:extLst>
          </p:cNvPr>
          <p:cNvSpPr txBox="1"/>
          <p:nvPr/>
        </p:nvSpPr>
        <p:spPr>
          <a:xfrm>
            <a:off x="215545" y="4805028"/>
            <a:ext cx="774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stack</a:t>
            </a:r>
            <a:r>
              <a:rPr lang="ko-KR" altLang="en-US" sz="1000" dirty="0"/>
              <a:t>영역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10877496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71_TF78504181_Win32.potx" id="{53D1D609-C9A9-47F9-8C8C-A5AFCC2E736F}" vid="{17C6E6DF-1035-471A-8170-27FB72BB79A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도형 프레젠테이션</Template>
  <TotalTime>469</TotalTime>
  <Words>452</Words>
  <Application>Microsoft Office PowerPoint</Application>
  <PresentationFormat>와이드스크린</PresentationFormat>
  <Paragraphs>103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Times New Roman</vt:lpstr>
      <vt:lpstr>ShapesVTI</vt:lpstr>
      <vt:lpstr>JAVA 스터디 1주차</vt:lpstr>
      <vt:lpstr>자바 소개</vt:lpstr>
      <vt:lpstr>클래스의 개요</vt:lpstr>
      <vt:lpstr>클래스  </vt:lpstr>
      <vt:lpstr>패키지</vt:lpstr>
      <vt:lpstr>논리형(boolean)</vt:lpstr>
      <vt:lpstr>객체지향의 정의와 주요개념</vt:lpstr>
      <vt:lpstr>참조변수와 객체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스터디 1주차</dc:title>
  <dc:creator>장현태</dc:creator>
  <cp:lastModifiedBy>현태 장</cp:lastModifiedBy>
  <cp:revision>7</cp:revision>
  <dcterms:created xsi:type="dcterms:W3CDTF">2024-01-03T13:33:27Z</dcterms:created>
  <dcterms:modified xsi:type="dcterms:W3CDTF">2024-01-04T07:15:52Z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