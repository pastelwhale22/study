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6"/>
  </p:notesMasterIdLst>
  <p:handoutMasterIdLst>
    <p:handoutMasterId r:id="rId17"/>
  </p:handoutMasterIdLst>
  <p:sldIdLst>
    <p:sldId id="3825" r:id="rId5"/>
    <p:sldId id="3827" r:id="rId6"/>
    <p:sldId id="3846" r:id="rId7"/>
    <p:sldId id="3854" r:id="rId8"/>
    <p:sldId id="3844" r:id="rId9"/>
    <p:sldId id="3855" r:id="rId10"/>
    <p:sldId id="3856" r:id="rId11"/>
    <p:sldId id="3848" r:id="rId12"/>
    <p:sldId id="3857" r:id="rId13"/>
    <p:sldId id="3853" r:id="rId14"/>
    <p:sldId id="3851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897"/>
    <a:srgbClr val="E3D6E6"/>
    <a:srgbClr val="EE7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2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1410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2024-02-01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2024-02-01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321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rgbClr val="FFFFFF"/>
                </a:solidFill>
              </a:rPr>
              <a:t>제네릭</a:t>
            </a:r>
            <a:r>
              <a:rPr lang="en-US" altLang="ko-KR" dirty="0">
                <a:solidFill>
                  <a:srgbClr val="FFFFFF"/>
                </a:solidFill>
              </a:rPr>
              <a:t>,</a:t>
            </a:r>
            <a:r>
              <a:rPr lang="ko-KR" altLang="en-US" dirty="0">
                <a:solidFill>
                  <a:srgbClr val="FFFFFF"/>
                </a:solidFill>
              </a:rPr>
              <a:t> 람다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66" y="451417"/>
            <a:ext cx="3932237" cy="6816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차원 배열</a:t>
            </a:r>
            <a:endParaRPr lang="ko-KR" altLang="en-US" kern="1200" dirty="0"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1200" cap="none" spc="0" baseline="0" dirty="0">
                <a:solidFill>
                  <a:prstClr val="black">
                    <a:tint val="7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배열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b="0" i="0" u="none" strike="noStrike" normalizeH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b="0" i="0" u="none" strike="noStrike" normalizeH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68DE38-D77A-361B-62F3-8CA488916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82" y="1487817"/>
            <a:ext cx="3527430" cy="23177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C26C2F-5F40-0047-24D2-FA264A013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504" y="606700"/>
            <a:ext cx="6068272" cy="336279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E924C8-6916-C73B-3A72-B5D6A7F7E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479" y="3969494"/>
            <a:ext cx="150516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342B5-7124-16F1-632B-CE25196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67" y="363498"/>
            <a:ext cx="3932237" cy="563336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String</a:t>
            </a:r>
            <a:r>
              <a:rPr lang="ko-KR" altLang="en-US" sz="2500" dirty="0"/>
              <a:t>배열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83F1D4-7F78-0676-0777-122DEFC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kern="1200" cap="none" spc="0" baseline="0" dirty="0">
                <a:solidFill>
                  <a:prstClr val="black">
                    <a:tint val="7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배열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EAE27-7832-0DD0-A5B2-5D319C6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2A643-EC80-348C-E3CD-29A1D3D7D3D9}"/>
              </a:ext>
            </a:extLst>
          </p:cNvPr>
          <p:cNvSpPr txBox="1"/>
          <p:nvPr/>
        </p:nvSpPr>
        <p:spPr>
          <a:xfrm>
            <a:off x="379974" y="1066045"/>
            <a:ext cx="357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0" i="0" dirty="0">
                <a:solidFill>
                  <a:srgbClr val="374151"/>
                </a:solidFill>
                <a:effectLst/>
                <a:latin typeface="Söhne"/>
              </a:rPr>
              <a:t>문자열을 저장하는 배열</a:t>
            </a:r>
            <a:endParaRPr lang="en-US" altLang="ko-KR" sz="1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6F1FF3-E37A-7DAF-DCB0-330E2784A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94" y="1596047"/>
            <a:ext cx="3579606" cy="28432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252973-738B-E8FD-A105-08CB530C3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168" y="4746989"/>
            <a:ext cx="1495634" cy="238158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7F469595-E3EC-BD71-4D59-ACE782BA91F6}"/>
              </a:ext>
            </a:extLst>
          </p:cNvPr>
          <p:cNvSpPr txBox="1">
            <a:spLocks/>
          </p:cNvSpPr>
          <p:nvPr/>
        </p:nvSpPr>
        <p:spPr>
          <a:xfrm>
            <a:off x="4451231" y="287205"/>
            <a:ext cx="3639966" cy="4826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2500" dirty="0"/>
              <a:t>enhanced for</a:t>
            </a:r>
            <a:r>
              <a:rPr lang="ko-KR" altLang="en-US" sz="2500" dirty="0"/>
              <a:t>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BB45A3-C6C6-5CA9-814B-1C119F947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653" y="1145599"/>
            <a:ext cx="3733121" cy="27589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ADBAEC-3641-269F-8C33-D4F20F0FB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6791" y="4166243"/>
            <a:ext cx="1028844" cy="42868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63A6EB8B-B714-3DEA-83CF-2F3348E46D85}"/>
              </a:ext>
            </a:extLst>
          </p:cNvPr>
          <p:cNvSpPr txBox="1">
            <a:spLocks/>
          </p:cNvSpPr>
          <p:nvPr/>
        </p:nvSpPr>
        <p:spPr>
          <a:xfrm>
            <a:off x="8786314" y="586621"/>
            <a:ext cx="2670135" cy="479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2500"/>
              <a:t>2</a:t>
            </a:r>
            <a:r>
              <a:rPr lang="ko-KR" altLang="en-US" sz="2500"/>
              <a:t>차원 배열</a:t>
            </a:r>
            <a:endParaRPr lang="ko-KR" altLang="en-US" sz="25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8EAE8D-AD9C-D01B-BDA9-5DCAF6FA7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096" y="1180053"/>
            <a:ext cx="3477761" cy="19969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6DF8C0B-662A-8E06-9DDB-3924F830E7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0657" y="3217108"/>
            <a:ext cx="2095792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8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14DA7-918E-0A8C-F8B0-298BE8D5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32" y="151002"/>
            <a:ext cx="3437958" cy="405246"/>
          </a:xfrm>
        </p:spPr>
        <p:txBody>
          <a:bodyPr>
            <a:normAutofit fontScale="90000"/>
          </a:bodyPr>
          <a:lstStyle/>
          <a:p>
            <a:r>
              <a:rPr lang="ko-KR" altLang="en-US" sz="2300" dirty="0"/>
              <a:t>제네릭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711952-86E6-1F5D-42DC-0E35476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제네릭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4E0E4-BB9A-A572-2C6F-B99F92B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9C5EF-1AFF-344A-7146-B60AF9EA36AA}"/>
              </a:ext>
            </a:extLst>
          </p:cNvPr>
          <p:cNvSpPr txBox="1"/>
          <p:nvPr/>
        </p:nvSpPr>
        <p:spPr>
          <a:xfrm>
            <a:off x="302281" y="816159"/>
            <a:ext cx="373631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일반화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제네릭 기반의 클래스 정의</a:t>
            </a:r>
            <a:endParaRPr lang="en-US" altLang="ko-KR" sz="1400" dirty="0"/>
          </a:p>
          <a:p>
            <a:r>
              <a:rPr lang="en-US" altLang="ko-KR" sz="1300" dirty="0"/>
              <a:t>     - class Box&lt;T&gt;</a:t>
            </a:r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타입 매개변수</a:t>
            </a:r>
            <a:endParaRPr lang="en-US" altLang="ko-KR" sz="1400" dirty="0"/>
          </a:p>
          <a:p>
            <a:r>
              <a:rPr lang="en-US" altLang="ko-KR" sz="1300" dirty="0"/>
              <a:t>     - Box&lt;T&gt; </a:t>
            </a:r>
            <a:r>
              <a:rPr lang="ko-KR" altLang="en-US" sz="1300" dirty="0"/>
              <a:t>에서 </a:t>
            </a:r>
            <a:r>
              <a:rPr lang="en-US" altLang="ko-KR" sz="1300" dirty="0"/>
              <a:t>T</a:t>
            </a:r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타입 인자</a:t>
            </a:r>
            <a:endParaRPr lang="en-US" altLang="ko-KR" sz="1400" dirty="0"/>
          </a:p>
          <a:p>
            <a:r>
              <a:rPr lang="en-US" altLang="ko-KR" sz="1300" dirty="0"/>
              <a:t>     - Box&lt;Apple&gt;</a:t>
            </a:r>
            <a:r>
              <a:rPr lang="ko-KR" altLang="en-US" sz="1300" dirty="0"/>
              <a:t>에서 </a:t>
            </a:r>
            <a:r>
              <a:rPr lang="en-US" altLang="ko-KR" sz="1300" dirty="0"/>
              <a:t>Apple</a:t>
            </a:r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매개변수화 타입</a:t>
            </a:r>
            <a:endParaRPr lang="en-US" altLang="ko-KR" sz="1400" dirty="0"/>
          </a:p>
          <a:p>
            <a:r>
              <a:rPr lang="en-US" altLang="ko-KR" sz="1300" dirty="0"/>
              <a:t>     - Box&lt;Apple&gt;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397CD74-E75D-550C-9CBA-59AB39D3F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198" y="276111"/>
            <a:ext cx="3385925" cy="58378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5033A5-037D-E389-088E-F3E5715A3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83" y="4539637"/>
            <a:ext cx="1619476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14DA7-918E-0A8C-F8B0-298BE8D5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31" y="151002"/>
            <a:ext cx="4608421" cy="405246"/>
          </a:xfrm>
        </p:spPr>
        <p:txBody>
          <a:bodyPr>
            <a:normAutofit fontScale="90000"/>
          </a:bodyPr>
          <a:lstStyle/>
          <a:p>
            <a:r>
              <a:rPr lang="ko-KR" altLang="en-US" sz="2300"/>
              <a:t>제네릭 클래스의 타입 인자 제한하기</a:t>
            </a:r>
            <a:endParaRPr lang="ko-KR" altLang="en-US" sz="23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711952-86E6-1F5D-42DC-0E35476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제네릭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4E0E4-BB9A-A572-2C6F-B99F92B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A65B73-E086-3169-443D-0A9841D25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101" y="1305657"/>
            <a:ext cx="3309149" cy="45070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57CDBA-8FA8-354F-8EAC-88D91E20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960" y="5207575"/>
            <a:ext cx="1670275" cy="4404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ABD7EFC-0CF7-CE1A-5207-1761167AA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246" y="1643511"/>
            <a:ext cx="3364644" cy="36255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779AB36-DA05-9E05-56C7-0A9E38897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599" y="5098894"/>
            <a:ext cx="543001" cy="3905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92D55-A5E4-2289-B7F5-4CB3A71438E4}"/>
              </a:ext>
            </a:extLst>
          </p:cNvPr>
          <p:cNvSpPr txBox="1"/>
          <p:nvPr/>
        </p:nvSpPr>
        <p:spPr>
          <a:xfrm>
            <a:off x="1297542" y="1258270"/>
            <a:ext cx="2865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제네릭 클래스이 타입 인자 제한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7C2A4-E05C-EDD1-7DBA-3C9EB46E88F8}"/>
              </a:ext>
            </a:extLst>
          </p:cNvPr>
          <p:cNvSpPr txBox="1"/>
          <p:nvPr/>
        </p:nvSpPr>
        <p:spPr>
          <a:xfrm>
            <a:off x="7608305" y="906782"/>
            <a:ext cx="2004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인터페이스로 제한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0995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14DA7-918E-0A8C-F8B0-298BE8D5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4" y="90684"/>
            <a:ext cx="3668610" cy="691643"/>
          </a:xfrm>
        </p:spPr>
        <p:txBody>
          <a:bodyPr>
            <a:normAutofit fontScale="90000"/>
          </a:bodyPr>
          <a:lstStyle/>
          <a:p>
            <a:r>
              <a:rPr lang="ko-KR" altLang="en-US" sz="2300" dirty="0"/>
              <a:t>제네릭 클래스상속</a:t>
            </a:r>
            <a:r>
              <a:rPr lang="en-US" altLang="ko-KR" sz="2300" dirty="0"/>
              <a:t>, </a:t>
            </a:r>
            <a:br>
              <a:rPr lang="en-US" altLang="ko-KR" sz="2300" dirty="0"/>
            </a:br>
            <a:r>
              <a:rPr lang="ko-KR" altLang="en-US" sz="2300" dirty="0"/>
              <a:t>제네릭 메소드의 정의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711952-86E6-1F5D-42DC-0E35476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ko-KR" altLang="en-US" sz="1200" dirty="0"/>
              <a:t>제네릭</a:t>
            </a:r>
            <a:endParaRPr lang="ko-KR" altLang="en-US" kern="1200" cap="none" spc="0" baseline="0" dirty="0">
              <a:solidFill>
                <a:prstClr val="black">
                  <a:tint val="7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4E0E4-BB9A-A572-2C6F-B99F92B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1EA4B-A2DA-1751-ABD6-B44D46B75C7D}"/>
              </a:ext>
            </a:extLst>
          </p:cNvPr>
          <p:cNvSpPr txBox="1"/>
          <p:nvPr/>
        </p:nvSpPr>
        <p:spPr>
          <a:xfrm>
            <a:off x="1159743" y="1069339"/>
            <a:ext cx="37622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제네릭 메소드</a:t>
            </a:r>
            <a:endParaRPr lang="en-US" altLang="ko-KR" sz="15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인스턴스 메소드 뿐만 아니라 클래스 메소드에 대해서도 정의가 가능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메소드 호출 시 자료형이 결정</a:t>
            </a:r>
            <a:endParaRPr lang="en-US" altLang="ko-K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35F1D-44DF-FF47-36B1-C4BE8540AB04}"/>
              </a:ext>
            </a:extLst>
          </p:cNvPr>
          <p:cNvSpPr txBox="1"/>
          <p:nvPr/>
        </p:nvSpPr>
        <p:spPr>
          <a:xfrm>
            <a:off x="7156635" y="1754235"/>
            <a:ext cx="37622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제네릭 클래스 상속</a:t>
            </a:r>
            <a:endParaRPr lang="en-US" altLang="ko-KR" sz="1500" dirty="0"/>
          </a:p>
          <a:p>
            <a:endParaRPr lang="en-US" altLang="ko-KR" sz="15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B34992-9DEB-A3CD-DD3C-F93F5CCE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59" y="1216341"/>
            <a:ext cx="2230451" cy="11274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6134E4-E1C0-254C-0A23-ABD14BEBF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506" y="2385639"/>
            <a:ext cx="3941352" cy="369736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AD478D-4575-8D86-608B-1159E82C8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654" y="2629488"/>
            <a:ext cx="628738" cy="3810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99FC85C-A54D-BCAC-776E-DCB750B50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244" y="2427563"/>
            <a:ext cx="3944455" cy="39643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287486-6D11-7ADE-E660-12D9936FE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796" y="5717877"/>
            <a:ext cx="66939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94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8058-4D18-5071-CFBB-4625DFA8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62" y="242603"/>
            <a:ext cx="3831949" cy="506242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와일드카드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6F1AD-AA0D-4211-ABD5-8198325C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제네릭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BD4E1-9B8A-66F2-72C2-E0339D3F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E8157-D15F-6C64-988D-B6E1E2E990A0}"/>
              </a:ext>
            </a:extLst>
          </p:cNvPr>
          <p:cNvSpPr txBox="1"/>
          <p:nvPr/>
        </p:nvSpPr>
        <p:spPr>
          <a:xfrm>
            <a:off x="589181" y="1102102"/>
            <a:ext cx="53806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이름에 제한을 두지 않음을 표현하는데 사용되는 기호를 의미</a:t>
            </a:r>
            <a:endParaRPr lang="en-US" altLang="ko-KR" sz="15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i="0" dirty="0" err="1">
                <a:solidFill>
                  <a:srgbClr val="212529"/>
                </a:solidFill>
                <a:effectLst/>
                <a:latin typeface="+mn-ea"/>
              </a:rPr>
              <a:t>제네릭타입</a:t>
            </a:r>
            <a:r>
              <a:rPr lang="en-US" altLang="ko-KR" sz="1400" i="0" dirty="0">
                <a:solidFill>
                  <a:srgbClr val="212529"/>
                </a:solidFill>
                <a:effectLst/>
                <a:latin typeface="+mn-ea"/>
              </a:rPr>
              <a:t>&lt;?&gt;</a:t>
            </a:r>
          </a:p>
          <a:p>
            <a:r>
              <a:rPr lang="en-US" altLang="ko-KR" sz="1200" b="0" dirty="0">
                <a:solidFill>
                  <a:srgbClr val="212529"/>
                </a:solidFill>
                <a:latin typeface="+mn-ea"/>
              </a:rPr>
              <a:t>        -</a:t>
            </a:r>
            <a:r>
              <a:rPr lang="ko-KR" altLang="en-US" sz="1200" b="0" i="0" dirty="0">
                <a:solidFill>
                  <a:srgbClr val="212529"/>
                </a:solidFill>
                <a:effectLst/>
                <a:latin typeface="+mn-ea"/>
              </a:rPr>
              <a:t>타입 파라미터를 대치하는 것으로 모든 클래스나 인터페이스타입이 올</a:t>
            </a:r>
            <a:endParaRPr lang="en-US" altLang="ko-KR" sz="1200" b="0" i="0" dirty="0">
              <a:solidFill>
                <a:srgbClr val="212529"/>
              </a:solidFill>
              <a:effectLst/>
              <a:latin typeface="+mn-ea"/>
            </a:endParaRPr>
          </a:p>
          <a:p>
            <a:r>
              <a:rPr lang="en-US" altLang="ko-KR" sz="1200" dirty="0">
                <a:solidFill>
                  <a:srgbClr val="212529"/>
                </a:solidFill>
                <a:latin typeface="+mn-ea"/>
              </a:rPr>
              <a:t>        </a:t>
            </a:r>
            <a:r>
              <a:rPr lang="ko-KR" altLang="en-US" sz="1200" b="0" i="0" dirty="0">
                <a:solidFill>
                  <a:srgbClr val="212529"/>
                </a:solidFill>
                <a:effectLst/>
                <a:latin typeface="+mn-ea"/>
              </a:rPr>
              <a:t> 수 있습니다</a:t>
            </a:r>
            <a:endParaRPr lang="en-US" altLang="ko-KR" sz="1200" b="0" i="0" dirty="0">
              <a:solidFill>
                <a:srgbClr val="212529"/>
              </a:solidFill>
              <a:effectLst/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212529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0" i="0" dirty="0" err="1">
                <a:solidFill>
                  <a:srgbClr val="212529"/>
                </a:solidFill>
                <a:effectLst/>
                <a:latin typeface="+mn-ea"/>
              </a:rPr>
              <a:t>제네릭타입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+mn-ea"/>
              </a:rPr>
              <a:t>&lt;? extends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+mn-ea"/>
              </a:rPr>
              <a:t>상위타입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+mn-ea"/>
              </a:rPr>
              <a:t>&gt; </a:t>
            </a:r>
          </a:p>
          <a:p>
            <a:r>
              <a:rPr lang="en-US" altLang="ko-KR" sz="1200" dirty="0">
                <a:solidFill>
                  <a:srgbClr val="212529"/>
                </a:solidFill>
                <a:latin typeface="+mn-ea"/>
              </a:rPr>
              <a:t>        -</a:t>
            </a:r>
            <a:r>
              <a:rPr lang="ko-KR" altLang="en-US" sz="1200" b="0" i="0" dirty="0">
                <a:solidFill>
                  <a:srgbClr val="212529"/>
                </a:solidFill>
                <a:effectLst/>
                <a:latin typeface="+mn-ea"/>
              </a:rPr>
              <a:t>와일드카드의 범위를 특정 객체의 하위 클래스만 올 수 있습니다</a:t>
            </a:r>
            <a:endParaRPr lang="en-US" altLang="ko-KR" sz="1200" b="0" i="0" dirty="0">
              <a:solidFill>
                <a:srgbClr val="212529"/>
              </a:solidFill>
              <a:effectLst/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212529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0" i="0" dirty="0" err="1">
                <a:solidFill>
                  <a:srgbClr val="212529"/>
                </a:solidFill>
                <a:effectLst/>
                <a:latin typeface="+mn-ea"/>
              </a:rPr>
              <a:t>제네릭타입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+mn-ea"/>
              </a:rPr>
              <a:t>&lt;? super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+mn-ea"/>
              </a:rPr>
              <a:t>하위타입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+mn-ea"/>
              </a:rPr>
              <a:t>&gt;</a:t>
            </a:r>
          </a:p>
          <a:p>
            <a:r>
              <a:rPr lang="en-US" altLang="ko-KR" sz="1200" b="0" i="0" dirty="0">
                <a:solidFill>
                  <a:srgbClr val="212529"/>
                </a:solidFill>
                <a:effectLst/>
                <a:latin typeface="+mn-ea"/>
              </a:rPr>
              <a:t>        -</a:t>
            </a:r>
            <a:r>
              <a:rPr lang="ko-KR" altLang="en-US" sz="1200" b="0" i="0" dirty="0">
                <a:solidFill>
                  <a:srgbClr val="212529"/>
                </a:solidFill>
                <a:effectLst/>
                <a:latin typeface="+mn-ea"/>
              </a:rPr>
              <a:t>와일드카드의 범위를 특정 객체의 상위 클래스만 올 수 있습니다</a:t>
            </a:r>
            <a:r>
              <a:rPr lang="en-US" altLang="ko-KR" sz="1200" b="0" i="0" dirty="0">
                <a:solidFill>
                  <a:srgbClr val="212529"/>
                </a:solidFill>
                <a:effectLst/>
                <a:latin typeface="+mn-ea"/>
              </a:rPr>
              <a:t>.</a:t>
            </a:r>
            <a:endParaRPr lang="en-US" altLang="ko-KR" sz="1200" b="0" i="0" dirty="0">
              <a:solidFill>
                <a:srgbClr val="000000"/>
              </a:solidFill>
              <a:effectLst/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025DBC-BFDE-1A6E-E857-602771298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698" y="748845"/>
            <a:ext cx="3378186" cy="48622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DEEC41-034D-DE9D-A5F0-0A9A1C5E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686" y="5485632"/>
            <a:ext cx="1752845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7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8058-4D18-5071-CFBB-4625DFA8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62" y="242603"/>
            <a:ext cx="3831949" cy="506242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람다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6F1AD-AA0D-4211-ABD5-8198325C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람다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BD4E1-9B8A-66F2-72C2-E0339D3F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E8157-D15F-6C64-988D-B6E1E2E990A0}"/>
              </a:ext>
            </a:extLst>
          </p:cNvPr>
          <p:cNvSpPr txBox="1"/>
          <p:nvPr/>
        </p:nvSpPr>
        <p:spPr>
          <a:xfrm>
            <a:off x="846387" y="975080"/>
            <a:ext cx="5380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374151"/>
                </a:solidFill>
                <a:effectLst/>
                <a:latin typeface="Söhne"/>
              </a:rPr>
              <a:t>익명 함수를 간단하게 작성할 수 있도록 하는 것</a:t>
            </a:r>
            <a:endParaRPr lang="en-US" altLang="ko-KR" sz="1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374151"/>
              </a:solidFill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575757"/>
                </a:solidFill>
                <a:effectLst/>
                <a:latin typeface="notokr"/>
              </a:rPr>
              <a:t>람다 표현식은 메소드를 하나의 식으로 표현한 것</a:t>
            </a:r>
            <a:endParaRPr lang="en-US" altLang="ko-KR" sz="14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AEF410-F330-940C-EFAB-BB60CE5F4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953" y="2155422"/>
            <a:ext cx="5875614" cy="21010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7E36D24-1759-DA93-C4DE-600257A1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29" y="4324302"/>
            <a:ext cx="1667108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41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8058-4D18-5071-CFBB-4625DFA8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1" y="76838"/>
            <a:ext cx="3831949" cy="506242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함수형 인터페이스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6F1AD-AA0D-4211-ABD5-8198325C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람다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BD4E1-9B8A-66F2-72C2-E0339D3F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63D3F4-5CFB-450C-AE67-42C4C2C3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28" y="2430801"/>
            <a:ext cx="3209573" cy="237412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09B98BE-ADA4-8605-87C7-6933D3F3F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814" y="4888265"/>
            <a:ext cx="304843" cy="6287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3EC3F8-BA45-D00E-F68A-486772005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430801"/>
            <a:ext cx="3270394" cy="216481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730883C-96A5-6C51-9C3D-2EF39D2EC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525" y="4595344"/>
            <a:ext cx="219106" cy="4191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B0AD558-2497-0BB5-34D0-78D520C0B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3781" y="2491117"/>
            <a:ext cx="3969508" cy="18757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ABD0452-9E3A-7FA6-A0BC-E89C92B772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5302660"/>
            <a:ext cx="2019582" cy="428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6EE89C-76F7-A7AC-F134-8437E88AE902}"/>
              </a:ext>
            </a:extLst>
          </p:cNvPr>
          <p:cNvSpPr txBox="1"/>
          <p:nvPr/>
        </p:nvSpPr>
        <p:spPr>
          <a:xfrm>
            <a:off x="506319" y="1858026"/>
            <a:ext cx="30303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매개변수가 있고 반환하지 않는 </a:t>
            </a:r>
            <a:r>
              <a:rPr lang="ko-KR" altLang="en-US" sz="1300" dirty="0" err="1"/>
              <a:t>람다식</a:t>
            </a:r>
            <a:endParaRPr lang="ko-KR" altLang="en-US" sz="1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5A9CF-BBE9-5A48-478C-D41AAE60EAAA}"/>
              </a:ext>
            </a:extLst>
          </p:cNvPr>
          <p:cNvSpPr txBox="1"/>
          <p:nvPr/>
        </p:nvSpPr>
        <p:spPr>
          <a:xfrm>
            <a:off x="4038600" y="1865721"/>
            <a:ext cx="30303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매개변수가 있고 반환하는 </a:t>
            </a:r>
            <a:r>
              <a:rPr lang="ko-KR" altLang="en-US" sz="1300" dirty="0" err="1"/>
              <a:t>람다식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1BE9A-73DC-61F3-5DB2-4A628D26E1FA}"/>
              </a:ext>
            </a:extLst>
          </p:cNvPr>
          <p:cNvSpPr txBox="1"/>
          <p:nvPr/>
        </p:nvSpPr>
        <p:spPr>
          <a:xfrm>
            <a:off x="7803781" y="1352344"/>
            <a:ext cx="34713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람다식과 제네릭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/>
              <a:t> 제네릭으로 정의된 함수형 인터페이스를 대상으로 람다식을 작성</a:t>
            </a:r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endParaRPr lang="ko-KR" alt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EB2D2-D063-D802-02FF-3DEB1AECF6FA}"/>
              </a:ext>
            </a:extLst>
          </p:cNvPr>
          <p:cNvSpPr txBox="1"/>
          <p:nvPr/>
        </p:nvSpPr>
        <p:spPr>
          <a:xfrm>
            <a:off x="657461" y="748845"/>
            <a:ext cx="3937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0" dirty="0">
                <a:effectLst/>
                <a:latin typeface="Nanum Gothic Coding"/>
              </a:rPr>
              <a:t>추상 메소드가 딱 하나만 존재하는 인터페이스</a:t>
            </a:r>
            <a:endParaRPr lang="en-US" altLang="ko-KR" sz="1200" b="0" dirty="0">
              <a:effectLst/>
              <a:latin typeface="Nanum Gothic Coding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3790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EA8B-7C09-820E-755A-2BAB025E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04" y="152400"/>
            <a:ext cx="3687378" cy="470958"/>
          </a:xfrm>
        </p:spPr>
        <p:txBody>
          <a:bodyPr>
            <a:noAutofit/>
          </a:bodyPr>
          <a:lstStyle/>
          <a:p>
            <a:r>
              <a:rPr lang="en-US" altLang="ko-KR" sz="2500" dirty="0" err="1"/>
              <a:t>Java.util.function</a:t>
            </a:r>
            <a:r>
              <a:rPr lang="en-US" altLang="ko-KR" sz="2500" dirty="0"/>
              <a:t> </a:t>
            </a:r>
            <a:r>
              <a:rPr lang="ko-KR" altLang="en-US" sz="2500" dirty="0"/>
              <a:t>패키지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8CC0A3-5BCE-B6AE-6E2D-AC0F1259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람다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E6092-3465-3394-AC66-23A7D314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2036D7-BA23-2000-DCF9-4C5E017F4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00" y="1754814"/>
            <a:ext cx="4483354" cy="368339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4DDB317-C38E-2E60-9F5B-11637CEE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35" y="5701315"/>
            <a:ext cx="1009791" cy="45726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9220EB3-7057-EF72-0655-916D86785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18" y="1780653"/>
            <a:ext cx="4645082" cy="329669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2D686C-DABC-8DB4-AFF8-00C2385B6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365" y="5438209"/>
            <a:ext cx="3867690" cy="4858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49DF26-009D-6BDB-9032-D1B181522CDA}"/>
              </a:ext>
            </a:extLst>
          </p:cNvPr>
          <p:cNvSpPr txBox="1"/>
          <p:nvPr/>
        </p:nvSpPr>
        <p:spPr>
          <a:xfrm>
            <a:off x="1345150" y="1069263"/>
            <a:ext cx="25618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Predicate&lt;T&gt;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boolean</a:t>
            </a:r>
            <a:r>
              <a:rPr lang="en-US" altLang="ko-KR" sz="1500" dirty="0"/>
              <a:t> test(T t) </a:t>
            </a:r>
            <a:r>
              <a:rPr lang="ko-KR" altLang="en-US" sz="1500" dirty="0"/>
              <a:t>메소드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7A81A-C801-0431-CA20-C80D41E3E38D}"/>
              </a:ext>
            </a:extLst>
          </p:cNvPr>
          <p:cNvSpPr txBox="1"/>
          <p:nvPr/>
        </p:nvSpPr>
        <p:spPr>
          <a:xfrm>
            <a:off x="7191798" y="1069263"/>
            <a:ext cx="2561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Supplier&lt;T&gt;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T get() 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메</a:t>
            </a:r>
            <a:r>
              <a:rPr lang="ko-KR" altLang="en-US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소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드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084383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D7E2E-53E7-1FC2-1E2A-286300C2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238125"/>
            <a:ext cx="4370151" cy="647700"/>
          </a:xfrm>
        </p:spPr>
        <p:txBody>
          <a:bodyPr>
            <a:normAutofit fontScale="90000"/>
          </a:bodyPr>
          <a:lstStyle/>
          <a:p>
            <a:r>
              <a:rPr lang="en-US" altLang="ko-KR" sz="3200" dirty="0" err="1"/>
              <a:t>Java.util.function</a:t>
            </a:r>
            <a:r>
              <a:rPr lang="en-US" altLang="ko-KR" sz="3200" dirty="0"/>
              <a:t> </a:t>
            </a:r>
            <a:r>
              <a:rPr lang="ko-KR" altLang="en-US" sz="3200" dirty="0"/>
              <a:t>패키지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80C998-0A6C-8229-D78A-FCC077B5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354694"/>
            <a:ext cx="4114800" cy="365125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람다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9AEACC-F0FD-817B-4A42-D6E08EA8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795292-3B5A-9336-4495-5035CA81D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51" y="1820411"/>
            <a:ext cx="5217072" cy="17998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2A795E-8290-7208-95DE-04D92D0BB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920" y="3750416"/>
            <a:ext cx="1133633" cy="4477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EE7617-D394-60BF-B425-34FF10373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047" y="1694576"/>
            <a:ext cx="5026305" cy="179984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8F127C-3174-3B56-B3E4-B1E4C4855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1577" y="3624863"/>
            <a:ext cx="171474" cy="428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3F6990-59C2-C4A7-1A24-D32E8655D771}"/>
              </a:ext>
            </a:extLst>
          </p:cNvPr>
          <p:cNvSpPr txBox="1"/>
          <p:nvPr/>
        </p:nvSpPr>
        <p:spPr>
          <a:xfrm>
            <a:off x="824750" y="1031178"/>
            <a:ext cx="33989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Consumer&lt;T&gt;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void accept(T t) 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메</a:t>
            </a:r>
            <a:r>
              <a:rPr lang="ko-KR" altLang="en-US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소</a:t>
            </a:r>
            <a:r>
              <a:rPr lang="ko-KR" altLang="ko-KR" sz="15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드</a:t>
            </a:r>
            <a:endParaRPr lang="ko-KR" altLang="en-US" sz="1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3E310-E651-C4CA-C939-F36F1B45ECE4}"/>
              </a:ext>
            </a:extLst>
          </p:cNvPr>
          <p:cNvSpPr txBox="1"/>
          <p:nvPr/>
        </p:nvSpPr>
        <p:spPr>
          <a:xfrm>
            <a:off x="6495482" y="985011"/>
            <a:ext cx="25618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Function&lt;T, R&gt;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R apply(T t) </a:t>
            </a:r>
            <a:r>
              <a:rPr lang="ko-KR" altLang="ko-KR" sz="150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메소드 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012703730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6af219d-e432-4a15-bc57-2cef55b458f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527796160E6984891AC1B3EFEF4DF8B" ma:contentTypeVersion="6" ma:contentTypeDescription="새 문서를 만듭니다." ma:contentTypeScope="" ma:versionID="21d204693fb40bc4f02d3b21e7379c2a">
  <xsd:schema xmlns:xsd="http://www.w3.org/2001/XMLSchema" xmlns:xs="http://www.w3.org/2001/XMLSchema" xmlns:p="http://schemas.microsoft.com/office/2006/metadata/properties" xmlns:ns3="f6af219d-e432-4a15-bc57-2cef55b458f9" targetNamespace="http://schemas.microsoft.com/office/2006/metadata/properties" ma:root="true" ma:fieldsID="c22fb8be32bfa838d4bf18b8c4ba3c05" ns3:_="">
    <xsd:import namespace="f6af219d-e432-4a15-bc57-2cef55b45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f219d-e432-4a15-bc57-2cef55b458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6af219d-e432-4a15-bc57-2cef55b458f9"/>
    <ds:schemaRef ds:uri="http://purl.org/dc/terms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9033931-96D0-47CF-989E-2DD6064C77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f219d-e432-4a15-bc57-2cef55b45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2218</TotalTime>
  <Words>280</Words>
  <Application>Microsoft Office PowerPoint</Application>
  <PresentationFormat>와이드스크린</PresentationFormat>
  <Paragraphs>85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Nanum Gothic Coding</vt:lpstr>
      <vt:lpstr>notokr</vt:lpstr>
      <vt:lpstr>Söhne</vt:lpstr>
      <vt:lpstr>맑은 고딕</vt:lpstr>
      <vt:lpstr>Arial</vt:lpstr>
      <vt:lpstr>Courier New</vt:lpstr>
      <vt:lpstr>ShapesVTI</vt:lpstr>
      <vt:lpstr>JAVA 스터디 5주차</vt:lpstr>
      <vt:lpstr>1차원 배열</vt:lpstr>
      <vt:lpstr>String배열</vt:lpstr>
      <vt:lpstr>제네릭</vt:lpstr>
      <vt:lpstr>제네릭 클래스의 타입 인자 제한하기</vt:lpstr>
      <vt:lpstr>제네릭 클래스상속,  제네릭 메소드의 정의</vt:lpstr>
      <vt:lpstr>와일드카드</vt:lpstr>
      <vt:lpstr>람다</vt:lpstr>
      <vt:lpstr>함수형 인터페이스</vt:lpstr>
      <vt:lpstr>Java.util.function 패키지</vt:lpstr>
      <vt:lpstr>Java.util.function 패키지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장현태</cp:lastModifiedBy>
  <cp:revision>24</cp:revision>
  <dcterms:created xsi:type="dcterms:W3CDTF">2024-01-03T13:33:27Z</dcterms:created>
  <dcterms:modified xsi:type="dcterms:W3CDTF">2024-02-01T04:15:54Z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0x010100A527796160E6984891AC1B3EFEF4DF8B</vt:lpwstr>
  </property>
</Properties>
</file>