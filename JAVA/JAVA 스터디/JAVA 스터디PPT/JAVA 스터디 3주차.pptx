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17"/>
  </p:notesMasterIdLst>
  <p:handoutMasterIdLst>
    <p:handoutMasterId r:id="rId18"/>
  </p:handoutMasterIdLst>
  <p:sldIdLst>
    <p:sldId id="3825" r:id="rId5"/>
    <p:sldId id="3827" r:id="rId6"/>
    <p:sldId id="3844" r:id="rId7"/>
    <p:sldId id="3846" r:id="rId8"/>
    <p:sldId id="3847" r:id="rId9"/>
    <p:sldId id="3848" r:id="rId10"/>
    <p:sldId id="3849" r:id="rId11"/>
    <p:sldId id="3851" r:id="rId12"/>
    <p:sldId id="3855" r:id="rId13"/>
    <p:sldId id="3856" r:id="rId14"/>
    <p:sldId id="3859" r:id="rId15"/>
    <p:sldId id="3857" r:id="rId1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1897"/>
    <a:srgbClr val="E3D6E6"/>
    <a:srgbClr val="EE7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18E111-6788-417A-A23B-82C6B5557E79}" v="127" dt="2024-01-17T19:05:34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19" autoAdjust="0"/>
    <p:restoredTop sz="94660"/>
  </p:normalViewPr>
  <p:slideViewPr>
    <p:cSldViewPr snapToGrid="0">
      <p:cViewPr varScale="1">
        <p:scale>
          <a:sx n="97" d="100"/>
          <a:sy n="97" d="100"/>
        </p:scale>
        <p:origin x="490" y="72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4D597-4836-42AA-8840-ACAAD80842E5}" type="datetime1">
              <a:rPr lang="ko-KR" altLang="en-US" smtClean="0">
                <a:latin typeface="+mj-lt"/>
              </a:rPr>
              <a:t>2024-01-18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0F4C1-F197-4411-A8B3-D320801A9BAD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38917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C8C1DB09-50C6-4917-B352-F3C3284AAE69}" type="datetime1">
              <a:rPr lang="ko-KR" altLang="en-US" smtClean="0"/>
              <a:pPr/>
              <a:t>2024-01-18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0C6A29-4676-420C-BBE3-ACC2B80F64D4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1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39152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D40C6A29-4676-420C-BBE3-ACC2B80F64D4}" type="slidenum">
              <a:rPr lang="en-US" altLang="ko-KR" smtClean="0">
                <a:latin typeface="+mj-ea"/>
                <a:ea typeface="+mj-ea"/>
              </a:rPr>
              <a:t>2</a:t>
            </a:fld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7321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(F)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호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rtlCol="0" anchor="b"/>
          <a:lstStyle>
            <a:lvl1pPr algn="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 rtlCol="0"/>
          <a:lstStyle>
            <a:lvl1pPr marL="0" indent="0" algn="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rtlCol="0" anchor="ctr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buNone/>
              <a:defRPr/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 작은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lnSpc>
                <a:spcPct val="110000"/>
              </a:lnSpc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lnSpc>
                <a:spcPct val="11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lnSpc>
                <a:spcPct val="11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10000"/>
              </a:lnSpc>
              <a:defRPr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타원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호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rtlCol="0" anchor="b"/>
          <a:lstStyle>
            <a:lvl1pPr algn="ctr">
              <a:defRPr sz="6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그림이 있는 견적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 rtlCol="0"/>
          <a:lstStyle>
            <a:lvl1pPr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rtlCol="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 rtlCol="0"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/>
              <a:t>프레젠테이션 제목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/>
              <a:pPr>
                <a:defRPr/>
              </a:pPr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 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3" name="내용 개체 틀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개의 중간 그림을 사용한 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호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 rtlCol="0"/>
          <a:lstStyle>
            <a:lvl1pPr algn="l"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 rtlCol="0"/>
          <a:lstStyle>
            <a:lvl1pPr marL="0" indent="0">
              <a:buNone/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08836-40C5-46C2-81BA-21AA271769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3836" y="2743200"/>
            <a:ext cx="7122196" cy="2386584"/>
          </a:xfrm>
        </p:spPr>
        <p:txBody>
          <a:bodyPr rtlCol="0"/>
          <a:lstStyle/>
          <a:p>
            <a:pPr rtl="0"/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JAVA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스터디 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주차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CC4EC4-809C-4FD2-AA20-009F08590D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챕터 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7,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챕터</a:t>
            </a:r>
            <a:r>
              <a:rPr lang="en-US" altLang="ko-KR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en-US" altLang="ko-KR" dirty="0">
                <a:solidFill>
                  <a:srgbClr val="FFFFFF"/>
                </a:solidFill>
              </a:rPr>
              <a:t>, </a:t>
            </a:r>
            <a:r>
              <a:rPr lang="ko-KR" altLang="en-US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챕터 </a:t>
            </a:r>
            <a:r>
              <a:rPr lang="en-US" altLang="ko-KR" dirty="0">
                <a:solidFill>
                  <a:srgbClr val="FFFFFF"/>
                </a:solidFill>
              </a:rPr>
              <a:t>11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0962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290457-2071-4F7C-9327-CE85A282B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027" y="226681"/>
            <a:ext cx="1120909" cy="451734"/>
          </a:xfrm>
        </p:spPr>
        <p:txBody>
          <a:bodyPr rtlCol="0" anchor="b">
            <a:normAutofit fontScale="90000"/>
          </a:bodyPr>
          <a:lstStyle/>
          <a:p>
            <a:pPr rtl="0"/>
            <a:r>
              <a:rPr lang="ko-KR" altLang="en-US" sz="2500" dirty="0"/>
              <a:t>스레드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67B1E24-2840-4BB0-AE5A-2320A01CB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6142" y="678415"/>
            <a:ext cx="5150333" cy="4985249"/>
          </a:xfrm>
        </p:spPr>
        <p:txBody>
          <a:bodyPr rtlCol="0">
            <a:norm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ko-KR" altLang="en-US" sz="1500" b="0" i="0" dirty="0">
                <a:solidFill>
                  <a:srgbClr val="212529"/>
                </a:solidFill>
                <a:effectLst/>
                <a:latin typeface="-apple-system"/>
              </a:rPr>
              <a:t>프로세스에서 독자적인 명령어 제어권을 갖고</a:t>
            </a:r>
            <a:r>
              <a:rPr lang="en-US" altLang="ko-KR" sz="1500" b="0" i="0" dirty="0">
                <a:solidFill>
                  <a:srgbClr val="212529"/>
                </a:solidFill>
                <a:effectLst/>
                <a:latin typeface="-apple-system"/>
              </a:rPr>
              <a:t>, </a:t>
            </a:r>
            <a:r>
              <a:rPr lang="ko-KR" altLang="en-US" sz="1500" b="0" i="0" dirty="0">
                <a:solidFill>
                  <a:srgbClr val="212529"/>
                </a:solidFill>
                <a:effectLst/>
                <a:latin typeface="-apple-system"/>
              </a:rPr>
              <a:t>프로세스에 있는 리소스를 공유하는 프로그램의 실행 단위</a:t>
            </a:r>
            <a:endParaRPr lang="en-US" altLang="ko-KR" sz="1500" dirty="0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96B342A5-1683-4650-BB07-B98D8B23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7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46EEA4F1-5FA3-4EBF-97F1-DF392077D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altLang="ko-KR" b="0" i="0" u="none" strike="noStrike" kern="1200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b="0" i="0" u="none" strike="noStrike" kern="1200" cap="none" spc="0" normalizeH="0" baseline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069CAF-393D-6C8B-FA95-74137F4E0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590" y="678415"/>
            <a:ext cx="4207904" cy="30992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0B393CC-7F20-662E-D250-F294490F5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47" y="3452932"/>
            <a:ext cx="1872389" cy="2764285"/>
          </a:xfrm>
          <a:prstGeom prst="rect">
            <a:avLst/>
          </a:prstGeom>
        </p:spPr>
      </p:pic>
      <p:pic>
        <p:nvPicPr>
          <p:cNvPr id="22" name="그림 21" descr="텍스트, 스크린샷, 도표, 폰트이(가) 표시된 사진&#10;&#10;자동 생성된 설명">
            <a:extLst>
              <a:ext uri="{FF2B5EF4-FFF2-40B4-BE49-F238E27FC236}">
                <a16:creationId xmlns:a16="http://schemas.microsoft.com/office/drawing/2014/main" id="{34D586A7-025D-898E-B72E-BF389AFE2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706" y="1194336"/>
            <a:ext cx="2644210" cy="2258596"/>
          </a:xfrm>
          <a:prstGeom prst="rect">
            <a:avLst/>
          </a:prstGeom>
        </p:spPr>
      </p:pic>
      <p:pic>
        <p:nvPicPr>
          <p:cNvPr id="24" name="그림 23" descr="원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4B7DA458-EA0E-5C83-A1CB-329A4F3566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137" y="3923371"/>
            <a:ext cx="4992364" cy="158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93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14DA7-918E-0A8C-F8B0-298BE8D54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3" y="174919"/>
            <a:ext cx="3437958" cy="750444"/>
          </a:xfrm>
        </p:spPr>
        <p:txBody>
          <a:bodyPr>
            <a:normAutofit/>
          </a:bodyPr>
          <a:lstStyle/>
          <a:p>
            <a:r>
              <a:rPr lang="en-US" altLang="ko-KR" sz="2300" dirty="0"/>
              <a:t>Thread </a:t>
            </a:r>
            <a:r>
              <a:rPr lang="ko-KR" altLang="en-US" sz="2300" dirty="0"/>
              <a:t>클래스</a:t>
            </a:r>
            <a:br>
              <a:rPr lang="en-US" altLang="ko-KR" sz="2300" dirty="0"/>
            </a:br>
            <a:r>
              <a:rPr lang="en-US" altLang="ko-KR" sz="2300" dirty="0"/>
              <a:t>/Runnable</a:t>
            </a:r>
            <a:r>
              <a:rPr lang="ko-KR" altLang="en-US" sz="2300" dirty="0"/>
              <a:t> 인터페이스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711952-86E6-1F5D-42DC-0E35476FF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7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64E0E4-BB9A-A572-2C6F-B99F92B2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36908D2-8273-5EE6-7E10-F259ACE98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374" y="711725"/>
            <a:ext cx="3533786" cy="436033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362AD5A-7C30-B0C3-D119-3E1F484FA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555" y="4800677"/>
            <a:ext cx="1027847" cy="147877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E0232A5-0A16-677D-D199-B1B596515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1" y="1097281"/>
            <a:ext cx="3437958" cy="300888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F3AAE49-E201-DD62-D53F-93D0923FE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735" y="688420"/>
            <a:ext cx="4371395" cy="350223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E25684E-873E-5111-419B-7FDC1BF8C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4433" y="3936704"/>
            <a:ext cx="923930" cy="260220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DE5ACF6-F26A-9355-425B-284CF4F7B574}"/>
              </a:ext>
            </a:extLst>
          </p:cNvPr>
          <p:cNvSpPr txBox="1"/>
          <p:nvPr/>
        </p:nvSpPr>
        <p:spPr>
          <a:xfrm>
            <a:off x="4386068" y="388560"/>
            <a:ext cx="17099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Thread </a:t>
            </a:r>
            <a:r>
              <a:rPr lang="ko-KR" altLang="en-US" sz="1500" dirty="0"/>
              <a:t>클래스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A7EE27-83C8-5911-9759-37F5BD287AD4}"/>
              </a:ext>
            </a:extLst>
          </p:cNvPr>
          <p:cNvSpPr txBox="1"/>
          <p:nvPr/>
        </p:nvSpPr>
        <p:spPr>
          <a:xfrm>
            <a:off x="8290532" y="365255"/>
            <a:ext cx="23997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Runnable </a:t>
            </a:r>
            <a:r>
              <a:rPr lang="ko-KR" altLang="en-US" sz="1500" dirty="0"/>
              <a:t>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210995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342B5-7124-16F1-632B-CE251968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916" y="342900"/>
            <a:ext cx="3932237" cy="563336"/>
          </a:xfrm>
        </p:spPr>
        <p:txBody>
          <a:bodyPr>
            <a:normAutofit/>
          </a:bodyPr>
          <a:lstStyle/>
          <a:p>
            <a:r>
              <a:rPr lang="ko-KR" altLang="en-US" sz="2500" dirty="0" err="1"/>
              <a:t>멀티스레드</a:t>
            </a:r>
            <a:r>
              <a:rPr lang="ko-KR" altLang="en-US" sz="2500" dirty="0"/>
              <a:t> 프로그래밍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0D1992-D480-6D0E-81F9-E0726699D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020536"/>
            <a:ext cx="3932237" cy="484845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동시에 여러 가지 일을 처리하려고 사용하는 프로그램 기법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83F1D4-7F78-0676-0777-122DEFC5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7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6EAE27-7832-0DD0-A5B2-5D319C67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E558DF-3537-3D5A-E043-3F9D2C449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58" y="1866585"/>
            <a:ext cx="3752308" cy="30161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B4367C4-DA21-E364-E37F-648074233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993" y="4310560"/>
            <a:ext cx="1690462" cy="185115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D7F1495-5D7D-621E-E892-513CBAB50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687" y="760800"/>
            <a:ext cx="2988913" cy="37142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73C49B7-E707-3A70-6D7D-5719FD4D2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545" y="760800"/>
            <a:ext cx="3176911" cy="3641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191EAA9-7C52-5564-A00D-A7F015884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776" y="4420936"/>
            <a:ext cx="775078" cy="1794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187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0623C7-8478-C93C-0B1A-7A27D515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34" y="135383"/>
            <a:ext cx="2670135" cy="479424"/>
          </a:xfrm>
        </p:spPr>
        <p:txBody>
          <a:bodyPr>
            <a:normAutofit/>
          </a:bodyPr>
          <a:lstStyle/>
          <a:p>
            <a:r>
              <a:rPr lang="ko-KR" altLang="en-US" sz="2500" dirty="0"/>
              <a:t>스레드 동기화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A42BAF-A471-CB7A-A1BA-6C98276F9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14807"/>
            <a:ext cx="4114800" cy="525418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스레드 간에 리소스를 동시에 점유할 수 있게 하는 것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멀티 스레드 문제점</a:t>
            </a:r>
            <a:endParaRPr lang="en-US" altLang="ko-KR" sz="1400" dirty="0"/>
          </a:p>
          <a:p>
            <a:r>
              <a:rPr lang="en-US" altLang="ko-KR" sz="1300" dirty="0"/>
              <a:t>-</a:t>
            </a:r>
            <a:r>
              <a:rPr lang="ko-KR" altLang="en-US" sz="1300" dirty="0"/>
              <a:t>스레드 접근 변수의 라이프 사이클이 끝나는 문제</a:t>
            </a:r>
            <a:endParaRPr lang="en-US" altLang="ko-KR" sz="1300" dirty="0"/>
          </a:p>
          <a:p>
            <a:r>
              <a:rPr lang="en-US" altLang="ko-KR" sz="1300" dirty="0"/>
              <a:t>-</a:t>
            </a:r>
            <a:r>
              <a:rPr lang="ko-KR" altLang="en-US" sz="1300" dirty="0"/>
              <a:t>스레드의 우선권 문제</a:t>
            </a:r>
            <a:endParaRPr lang="en-US" altLang="ko-KR" sz="1300" dirty="0"/>
          </a:p>
          <a:p>
            <a:r>
              <a:rPr lang="en-US" altLang="ko-KR" sz="1300" dirty="0"/>
              <a:t>-</a:t>
            </a:r>
            <a:r>
              <a:rPr lang="ko-KR" altLang="en-US" sz="1300" dirty="0"/>
              <a:t>공용 리소스의 접근 문제</a:t>
            </a:r>
            <a:endParaRPr lang="en-US" altLang="ko-KR" sz="1300" dirty="0"/>
          </a:p>
          <a:p>
            <a:endParaRPr lang="en-US" altLang="ko-K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dirty="0"/>
              <a:t>리소스 동기화 처리를 잘못하면 속도가 저하되는 등 문제가 발생할 수 있다</a:t>
            </a:r>
            <a:r>
              <a:rPr lang="en-US" altLang="ko-KR" sz="1300" dirty="0"/>
              <a:t>.</a:t>
            </a:r>
            <a:r>
              <a:rPr lang="ko-KR" altLang="en-US" sz="1300" dirty="0"/>
              <a:t> </a:t>
            </a:r>
            <a:endParaRPr lang="en-US" altLang="ko-KR" sz="13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02956E-2BF5-AEA5-4DAE-ACC02174B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7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444597-424D-5D36-1EB7-FF26508A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24EA79-FC29-2B6F-57BA-3EB4E4FB5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588" y="524849"/>
            <a:ext cx="3579613" cy="44788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00CF7C-6278-71EE-69CB-08944097C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466" y="524849"/>
            <a:ext cx="3695000" cy="369993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571AC08-40A9-11D3-8FD1-EE8CE055E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284" y="4465685"/>
            <a:ext cx="2743200" cy="107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94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38058-4D18-5071-CFBB-4625DFA8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1" y="255758"/>
            <a:ext cx="3831949" cy="506242"/>
          </a:xfrm>
        </p:spPr>
        <p:txBody>
          <a:bodyPr>
            <a:normAutofit/>
          </a:bodyPr>
          <a:lstStyle/>
          <a:p>
            <a:r>
              <a:rPr lang="en-US" altLang="ko-KR" sz="2500" dirty="0" err="1"/>
              <a:t>Java.util</a:t>
            </a:r>
            <a:r>
              <a:rPr lang="en-US" altLang="ko-KR" sz="2500" dirty="0"/>
              <a:t>/</a:t>
            </a:r>
            <a:r>
              <a:rPr lang="ko-KR" altLang="en-US" sz="2500" dirty="0"/>
              <a:t>유틸리티 클래스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437538-98B2-94D3-D68B-D81476346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37071"/>
            <a:ext cx="5094287" cy="365125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개발자가 많이 사용하는 기능을 클래스로 만들어 패키지화 한 것</a:t>
            </a:r>
            <a:endParaRPr lang="en-US" altLang="ko-KR" sz="120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B6F1AD-AA0D-4211-ABD5-8198325C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10</a:t>
            </a:r>
            <a:endParaRPr lang="ko-KR" altLang="en-US" b="0" i="0" u="none" strike="noStrike" kern="1200" cap="none" spc="0" normalizeH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BD4E1-9B8A-66F2-72C2-E0339D3F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07A0FD-F2DA-04A8-523B-3EAAFD854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688" y="4606478"/>
            <a:ext cx="3115357" cy="15933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2546B4-3E7C-3CAF-1733-0E2C89672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007" y="6070450"/>
            <a:ext cx="1724266" cy="22863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D265BEE-5207-1227-5987-861643510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580" y="1200560"/>
            <a:ext cx="4214825" cy="17970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7C548E1-8D26-9E11-B7C9-EB00ED5F2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668" y="1375578"/>
            <a:ext cx="3067473" cy="219105"/>
          </a:xfrm>
          <a:prstGeom prst="rect">
            <a:avLst/>
          </a:prstGeom>
        </p:spPr>
      </p:pic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D769F209-2CB6-57CE-E615-C79C676490D4}"/>
              </a:ext>
            </a:extLst>
          </p:cNvPr>
          <p:cNvSpPr txBox="1">
            <a:spLocks/>
          </p:cNvSpPr>
          <p:nvPr/>
        </p:nvSpPr>
        <p:spPr>
          <a:xfrm>
            <a:off x="696204" y="1905536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Random </a:t>
            </a:r>
            <a:r>
              <a:rPr lang="ko-KR" altLang="en-US" sz="1800" dirty="0"/>
              <a:t>클래스</a:t>
            </a:r>
            <a:endParaRPr lang="en-US" altLang="ko-K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다양한 데이터 타입에서 난수를 발생시키는 클래스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Random()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FD28A13-58CD-B449-46E0-9A143B0BE2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88" y="2897841"/>
            <a:ext cx="4095914" cy="1614044"/>
          </a:xfrm>
          <a:prstGeom prst="rect">
            <a:avLst/>
          </a:prstGeom>
        </p:spPr>
      </p:pic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F90CDC62-0FA9-160D-6A2F-D84B873320F8}"/>
              </a:ext>
            </a:extLst>
          </p:cNvPr>
          <p:cNvSpPr txBox="1">
            <a:spLocks/>
          </p:cNvSpPr>
          <p:nvPr/>
        </p:nvSpPr>
        <p:spPr>
          <a:xfrm>
            <a:off x="5854614" y="432235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Date </a:t>
            </a:r>
            <a:r>
              <a:rPr lang="ko-KR" altLang="en-US" sz="1800" dirty="0"/>
              <a:t>클래스</a:t>
            </a:r>
            <a:endParaRPr lang="en-US" altLang="ko-K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날짜와</a:t>
            </a:r>
            <a:r>
              <a:rPr lang="en-US" altLang="ko-KR" sz="1200" dirty="0"/>
              <a:t> </a:t>
            </a:r>
            <a:r>
              <a:rPr lang="ko-KR" altLang="en-US" sz="1200" dirty="0"/>
              <a:t>시간 정보를 쉽게 얻을 수 있는 방법을 제공한다</a:t>
            </a:r>
            <a:r>
              <a:rPr lang="en-US" altLang="ko-KR" sz="1200" dirty="0"/>
              <a:t>.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22D0645F-05F3-0D15-6CC6-4D2CD75E7EB0}"/>
              </a:ext>
            </a:extLst>
          </p:cNvPr>
          <p:cNvSpPr txBox="1">
            <a:spLocks/>
          </p:cNvSpPr>
          <p:nvPr/>
        </p:nvSpPr>
        <p:spPr>
          <a:xfrm>
            <a:off x="5934075" y="3190048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Calendar </a:t>
            </a:r>
            <a:r>
              <a:rPr lang="ko-KR" altLang="en-US" sz="1800" dirty="0"/>
              <a:t>클래스</a:t>
            </a:r>
            <a:endParaRPr lang="en-US" altLang="ko-KR" sz="1800" dirty="0"/>
          </a:p>
          <a:p>
            <a:endParaRPr lang="en-US" altLang="ko-KR" sz="12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82752A5-20D9-B39E-089F-895D34B224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9472" y="3609323"/>
            <a:ext cx="4407039" cy="177916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03F1D1D-1B16-3585-8200-8C2F5CA881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319" y="5325312"/>
            <a:ext cx="2229161" cy="1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4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FEA8B-7C09-820E-755A-2BAB025E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04" y="152400"/>
            <a:ext cx="2616730" cy="470958"/>
          </a:xfrm>
        </p:spPr>
        <p:txBody>
          <a:bodyPr>
            <a:noAutofit/>
          </a:bodyPr>
          <a:lstStyle/>
          <a:p>
            <a:r>
              <a:rPr lang="ko-KR" altLang="en-US" sz="2500" dirty="0"/>
              <a:t>유틸리티 클래스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8CC0A3-5BCE-B6AE-6E2D-AC0F1259B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noProof="0" dirty="0">
                <a:solidFill>
                  <a:prstClr val="black">
                    <a:tint val="75000"/>
                  </a:prstClr>
                </a:solidFill>
              </a:rPr>
              <a:t>10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EE6092-3465-3394-AC66-23A7D314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46E952-49B7-7FBB-64EC-1532C5E64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63" y="2575341"/>
            <a:ext cx="4114800" cy="280525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1F3E77F-5BFE-9594-FCD7-11F14E78F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13" y="5439770"/>
            <a:ext cx="2074019" cy="9032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D2934A1-66B1-BF0D-D65D-BE8451939D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202" y="3795206"/>
            <a:ext cx="3666067" cy="235265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114FD18-A40F-B420-E52A-FC5AFAD54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9747" y="5090961"/>
            <a:ext cx="864740" cy="1056904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68F3C9-A3E0-F89F-D075-D565CEEF3F01}"/>
              </a:ext>
            </a:extLst>
          </p:cNvPr>
          <p:cNvSpPr txBox="1">
            <a:spLocks/>
          </p:cNvSpPr>
          <p:nvPr/>
        </p:nvSpPr>
        <p:spPr>
          <a:xfrm>
            <a:off x="779701" y="857044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Vector </a:t>
            </a:r>
            <a:r>
              <a:rPr lang="ko-KR" altLang="en-US" sz="1800" dirty="0"/>
              <a:t>클래스</a:t>
            </a:r>
            <a:endParaRPr lang="en-US" altLang="ko-K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Vector </a:t>
            </a:r>
            <a:r>
              <a:rPr lang="ko-KR" altLang="en-US" sz="1200" dirty="0"/>
              <a:t>크기를</a:t>
            </a:r>
            <a:r>
              <a:rPr lang="en-US" altLang="ko-KR" sz="1200" dirty="0"/>
              <a:t> </a:t>
            </a:r>
            <a:r>
              <a:rPr lang="ko-KR" altLang="en-US" sz="1200" dirty="0"/>
              <a:t>동적으로 변화 시킬 수 있는 일종의 배열구조</a:t>
            </a:r>
            <a:r>
              <a:rPr lang="en-US" altLang="ko-KR" sz="1200" dirty="0"/>
              <a:t>.</a:t>
            </a:r>
          </a:p>
        </p:txBody>
      </p:sp>
      <p:pic>
        <p:nvPicPr>
          <p:cNvPr id="1030" name="Picture 6" descr="Vector 클래스로 배열의 크기를 유연하게 사용하기 :: ---">
            <a:extLst>
              <a:ext uri="{FF2B5EF4-FFF2-40B4-BE49-F238E27FC236}">
                <a16:creationId xmlns:a16="http://schemas.microsoft.com/office/drawing/2014/main" id="{08F99A94-19ED-A220-44D4-C885121D2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742" y="1552166"/>
            <a:ext cx="3624258" cy="1541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92AF7761-7F63-9802-BD58-62675ABD82ED}"/>
              </a:ext>
            </a:extLst>
          </p:cNvPr>
          <p:cNvSpPr txBox="1">
            <a:spLocks/>
          </p:cNvSpPr>
          <p:nvPr/>
        </p:nvSpPr>
        <p:spPr>
          <a:xfrm>
            <a:off x="7152117" y="1069901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Stack </a:t>
            </a:r>
            <a:r>
              <a:rPr lang="ko-KR" altLang="en-US" sz="1800" dirty="0"/>
              <a:t>클래스</a:t>
            </a:r>
            <a:endParaRPr lang="en-US" altLang="ko-K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b="0" i="0" dirty="0" err="1">
                <a:solidFill>
                  <a:srgbClr val="374151"/>
                </a:solidFill>
                <a:effectLst/>
              </a:rPr>
              <a:t>후입선출</a:t>
            </a:r>
            <a:r>
              <a:rPr lang="en-US" altLang="ko-KR" sz="1200" b="0" i="0" dirty="0">
                <a:solidFill>
                  <a:srgbClr val="374151"/>
                </a:solidFill>
                <a:effectLst/>
              </a:rPr>
              <a:t>(Last-In-First-Out, LIFO) </a:t>
            </a:r>
            <a:r>
              <a:rPr lang="ko-KR" altLang="en-US" sz="1200" b="0" i="0" dirty="0">
                <a:solidFill>
                  <a:srgbClr val="374151"/>
                </a:solidFill>
                <a:effectLst/>
              </a:rPr>
              <a:t>구조를 따르는 자료구조를 구현한 클래스</a:t>
            </a:r>
            <a:endParaRPr lang="en-US" altLang="ko-KR" sz="1200" dirty="0"/>
          </a:p>
          <a:p>
            <a:endParaRPr lang="en-US" altLang="ko-KR" sz="1800" dirty="0"/>
          </a:p>
        </p:txBody>
      </p:sp>
      <p:pic>
        <p:nvPicPr>
          <p:cNvPr id="1032" name="Picture 8" descr="Stack(1)">
            <a:extLst>
              <a:ext uri="{FF2B5EF4-FFF2-40B4-BE49-F238E27FC236}">
                <a16:creationId xmlns:a16="http://schemas.microsoft.com/office/drawing/2014/main" id="{AA6A970B-AE8E-82E7-980F-9AC2DB374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547" y="1871963"/>
            <a:ext cx="3004301" cy="1628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346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D7E2E-53E7-1FC2-1E2A-286300C22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88" y="238125"/>
            <a:ext cx="3932237" cy="647700"/>
          </a:xfrm>
        </p:spPr>
        <p:txBody>
          <a:bodyPr/>
          <a:lstStyle/>
          <a:p>
            <a:r>
              <a:rPr lang="ko-KR" altLang="en-US" sz="3200" dirty="0"/>
              <a:t>유틸리티 클래스</a:t>
            </a:r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80C998-0A6C-8229-D78A-FCC077B5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2" y="6354694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10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9AEACC-F0FD-817B-4A42-D6E08EA8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617D198-A8CF-36AF-B02A-9E1BA936F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52" y="2727187"/>
            <a:ext cx="3295809" cy="291899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F36D467-1BCA-0516-9C0E-EE8155E77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001" y="5416754"/>
            <a:ext cx="1750106" cy="88272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2A8966C-4C6B-BD4C-8608-9E5150FB7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017" y="2299113"/>
            <a:ext cx="4526005" cy="225977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ECCAC49-6990-9DE9-D0FB-8FCE7BD2A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6818" y="4454616"/>
            <a:ext cx="1918067" cy="674103"/>
          </a:xfrm>
          <a:prstGeom prst="rect">
            <a:avLst/>
          </a:prstGeom>
        </p:spPr>
      </p:pic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2EE49A3C-4ACF-9642-5E32-140A7965A264}"/>
              </a:ext>
            </a:extLst>
          </p:cNvPr>
          <p:cNvSpPr txBox="1">
            <a:spLocks/>
          </p:cNvSpPr>
          <p:nvPr/>
        </p:nvSpPr>
        <p:spPr>
          <a:xfrm>
            <a:off x="741916" y="1392364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err="1"/>
              <a:t>HashTable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</a:t>
            </a:r>
            <a:endParaRPr lang="en-US" altLang="ko-K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자바에서 제공하는 해시 테이블을 구현한 클래스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해시 테이블은 키</a:t>
            </a:r>
            <a:r>
              <a:rPr lang="en-US" altLang="ko-KR" sz="1200" dirty="0"/>
              <a:t>-</a:t>
            </a:r>
            <a:r>
              <a:rPr lang="ko-KR" altLang="en-US" sz="1200" dirty="0"/>
              <a:t>값 쌍을 저장하며</a:t>
            </a:r>
            <a:r>
              <a:rPr lang="en-US" altLang="ko-KR" sz="1200" dirty="0"/>
              <a:t>, </a:t>
            </a:r>
            <a:r>
              <a:rPr lang="ko-KR" altLang="en-US" sz="1200" dirty="0"/>
              <a:t>특정 키에 대한 값을 빠르게 검색하기 위해 해시 함수를 사용</a:t>
            </a:r>
            <a:endParaRPr lang="en-US" altLang="ko-KR" sz="12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77911D-8E48-6AC5-9472-89DB20359A87}"/>
              </a:ext>
            </a:extLst>
          </p:cNvPr>
          <p:cNvSpPr txBox="1">
            <a:spLocks/>
          </p:cNvSpPr>
          <p:nvPr/>
        </p:nvSpPr>
        <p:spPr>
          <a:xfrm>
            <a:off x="6819024" y="1392364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err="1"/>
              <a:t>StringTokenizer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</a:t>
            </a:r>
            <a:endParaRPr lang="en-US" altLang="ko-K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문자열을 좀 더 효과적으로 처리하기 위해 제공되는 클래스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012703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7E87E-94EA-0C6B-6B61-E71A0C7A5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982" y="170439"/>
            <a:ext cx="4427537" cy="693449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Java.io </a:t>
            </a:r>
            <a:r>
              <a:rPr lang="ko-KR" altLang="en-US" sz="2500" dirty="0"/>
              <a:t>패키지의 주요 클래스</a:t>
            </a: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F38B1B1-04F1-501D-0F55-C52A37859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11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98B184-4A05-3730-5ADC-0AD40B9F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1B516CC-9BA7-5D53-B525-8D544C52F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428" y="1804384"/>
            <a:ext cx="3899277" cy="219040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2A2B7AE-FF2C-0ED0-943A-F8FAD784D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999" y="4177067"/>
            <a:ext cx="1456574" cy="54198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A20ECEA-D0F9-3404-6785-735554C79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852" y="1819722"/>
            <a:ext cx="3306457" cy="295219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F7C0D08-C9B2-611D-7F7F-2C70FAFB7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7894" y="4822625"/>
            <a:ext cx="1194421" cy="794019"/>
          </a:xfrm>
          <a:prstGeom prst="rect">
            <a:avLst/>
          </a:prstGeom>
        </p:spPr>
      </p:pic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823ECD2E-B12C-8CD0-C40F-1BBE0E84BB8A}"/>
              </a:ext>
            </a:extLst>
          </p:cNvPr>
          <p:cNvSpPr txBox="1">
            <a:spLocks/>
          </p:cNvSpPr>
          <p:nvPr/>
        </p:nvSpPr>
        <p:spPr>
          <a:xfrm>
            <a:off x="529061" y="785326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자바에서 입 출력을 지원하는 패키지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문자 스트림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바이트 스트림</a:t>
            </a:r>
            <a:endParaRPr lang="en-US" altLang="ko-KR" sz="12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1AC2A3-B0FC-71FF-AF42-B07F9C725D86}"/>
              </a:ext>
            </a:extLst>
          </p:cNvPr>
          <p:cNvSpPr txBox="1">
            <a:spLocks/>
          </p:cNvSpPr>
          <p:nvPr/>
        </p:nvSpPr>
        <p:spPr>
          <a:xfrm>
            <a:off x="5901720" y="746431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err="1"/>
              <a:t>InputStream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</a:t>
            </a:r>
            <a:r>
              <a:rPr lang="en-US" altLang="ko-KR" sz="1800" dirty="0"/>
              <a:t>, OutputStream </a:t>
            </a:r>
            <a:r>
              <a:rPr lang="ko-KR" altLang="en-US" sz="1800" dirty="0"/>
              <a:t>클래스</a:t>
            </a:r>
            <a:endParaRPr lang="en-US" altLang="ko-K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바이트 스트림의 대표적인 입 출력 스트림</a:t>
            </a: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3613C4-C2E2-D2DD-E75A-0AABC222BE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061" y="1804384"/>
            <a:ext cx="3151230" cy="219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90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F646E-5689-B16A-C6DA-40AC64830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91" y="171318"/>
            <a:ext cx="4317252" cy="619125"/>
          </a:xfrm>
        </p:spPr>
        <p:txBody>
          <a:bodyPr>
            <a:noAutofit/>
          </a:bodyPr>
          <a:lstStyle/>
          <a:p>
            <a:r>
              <a:rPr lang="en-US" altLang="ko-KR" sz="2500" dirty="0"/>
              <a:t>Java.io </a:t>
            </a:r>
            <a:r>
              <a:rPr lang="ko-KR" altLang="en-US" sz="2500" dirty="0"/>
              <a:t>패키지의 주요 클래스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0990A4-7F7E-0334-BCE6-2B0164EE5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11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6FF8E7-847E-C786-3C48-31817C0F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23DAA8A-EA90-93F1-37AF-DB130DD38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65" y="1998324"/>
            <a:ext cx="4938565" cy="303048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A4625DE-F693-4F6E-562E-BD6C5772A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484" y="5568959"/>
            <a:ext cx="1350964" cy="36512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76F5A91-DBC4-2C5D-D8FB-6808037B9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24" y="1489604"/>
            <a:ext cx="4547751" cy="387879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8ADBDF3-752A-248E-0749-2D31E8F8F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368" y="5262027"/>
            <a:ext cx="2743200" cy="1094323"/>
          </a:xfrm>
          <a:prstGeom prst="rect">
            <a:avLst/>
          </a:prstGeom>
        </p:spPr>
      </p:pic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EE2F22DF-4BDF-ACB5-F07A-6DB484CAC792}"/>
              </a:ext>
            </a:extLst>
          </p:cNvPr>
          <p:cNvSpPr txBox="1">
            <a:spLocks/>
          </p:cNvSpPr>
          <p:nvPr/>
        </p:nvSpPr>
        <p:spPr>
          <a:xfrm>
            <a:off x="1023608" y="989553"/>
            <a:ext cx="6246250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err="1"/>
              <a:t>InputStreamReader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OutputStreamWriter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541589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B46954-350A-AA6F-67C5-1C165A9F8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69" y="211596"/>
            <a:ext cx="4343400" cy="455311"/>
          </a:xfrm>
        </p:spPr>
        <p:txBody>
          <a:bodyPr>
            <a:normAutofit/>
          </a:bodyPr>
          <a:lstStyle/>
          <a:p>
            <a:r>
              <a:rPr lang="en-US" altLang="ko-KR" sz="2500" dirty="0"/>
              <a:t>Java.io </a:t>
            </a:r>
            <a:r>
              <a:rPr lang="ko-KR" altLang="en-US" sz="2500" dirty="0"/>
              <a:t>패키지의 주요 클래스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B7AC45-4F19-E51C-B767-81852F22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11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A4458A-5332-3897-C5F0-44491A86C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1C5B40-1C83-AA2F-37CE-5A6121E3B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46" y="1515473"/>
            <a:ext cx="5560063" cy="36450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883432A-3930-08E4-E613-7DBEBA5B4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109" y="1583173"/>
            <a:ext cx="4507238" cy="329664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4C65B29-EEF0-7AFF-6B5F-9351C88C0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561" y="5160474"/>
            <a:ext cx="2750381" cy="564648"/>
          </a:xfrm>
          <a:prstGeom prst="rect">
            <a:avLst/>
          </a:prstGeom>
        </p:spPr>
      </p:pic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BF21318B-496F-9043-58E3-C86A3F8515F4}"/>
              </a:ext>
            </a:extLst>
          </p:cNvPr>
          <p:cNvSpPr txBox="1">
            <a:spLocks/>
          </p:cNvSpPr>
          <p:nvPr/>
        </p:nvSpPr>
        <p:spPr>
          <a:xfrm>
            <a:off x="1148352" y="666907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err="1"/>
              <a:t>FileReader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FileWriter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93899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81432-E4A2-FAEB-AFB1-D3B46C60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425450"/>
            <a:ext cx="3932237" cy="561975"/>
          </a:xfrm>
        </p:spPr>
        <p:txBody>
          <a:bodyPr/>
          <a:lstStyle/>
          <a:p>
            <a:r>
              <a:rPr lang="en-US" altLang="ko-KR" dirty="0" err="1"/>
              <a:t>Java.nio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9C21CF-B3D9-D012-7415-FA03AF65F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987425"/>
            <a:ext cx="5256212" cy="488156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자바에서 지원하는 자료형에 추가로 버퍼 클래스를 제공한다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EC7B76-1555-20D1-0D38-364739965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ko-KR" altLang="en-US" noProof="0" dirty="0">
                <a:solidFill>
                  <a:prstClr val="black">
                    <a:tint val="75000"/>
                  </a:prstClr>
                </a:solidFill>
              </a:rPr>
              <a:t>챕터 </a:t>
            </a:r>
            <a:r>
              <a:rPr lang="en-US" altLang="ko-KR" dirty="0">
                <a:solidFill>
                  <a:prstClr val="black">
                    <a:tint val="75000"/>
                  </a:prstClr>
                </a:solidFill>
              </a:rPr>
              <a:t>11</a:t>
            </a:r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871B39-F9F9-10E3-E6CA-616DB5CC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altLang="ko-KR" noProof="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</a:t>
            </a:fld>
            <a:endParaRPr lang="ko-KR" altLang="en-US" noProof="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0CB485-8DF1-C3FE-8528-5BE1A2B17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126" y="3282442"/>
            <a:ext cx="5113349" cy="24750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14593CE-7B44-B143-C55D-4A68717EE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678" y="4068986"/>
            <a:ext cx="2554880" cy="4177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6FA7CD5-5E5B-0AFB-137C-88EC89828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496" y="706437"/>
            <a:ext cx="4996208" cy="1441859"/>
          </a:xfrm>
          <a:prstGeom prst="rect">
            <a:avLst/>
          </a:prstGeom>
        </p:spPr>
      </p:pic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EA273DEB-4FC0-B4E6-4436-8A7B3F256BB4}"/>
              </a:ext>
            </a:extLst>
          </p:cNvPr>
          <p:cNvSpPr txBox="1">
            <a:spLocks/>
          </p:cNvSpPr>
          <p:nvPr/>
        </p:nvSpPr>
        <p:spPr>
          <a:xfrm>
            <a:off x="1261708" y="2551805"/>
            <a:ext cx="4737297" cy="2643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err="1"/>
              <a:t>IntBuffered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137411158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71_TF78504181_Win32.potx" id="{53D1D609-C9A9-47F9-8C8C-A5AFCC2E736F}" vid="{17C6E6DF-1035-471A-8170-27FB72BB79A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f6af219d-e432-4a15-bc57-2cef55b458f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527796160E6984891AC1B3EFEF4DF8B" ma:contentTypeVersion="6" ma:contentTypeDescription="새 문서를 만듭니다." ma:contentTypeScope="" ma:versionID="21d204693fb40bc4f02d3b21e7379c2a">
  <xsd:schema xmlns:xsd="http://www.w3.org/2001/XMLSchema" xmlns:xs="http://www.w3.org/2001/XMLSchema" xmlns:p="http://schemas.microsoft.com/office/2006/metadata/properties" xmlns:ns3="f6af219d-e432-4a15-bc57-2cef55b458f9" targetNamespace="http://schemas.microsoft.com/office/2006/metadata/properties" ma:root="true" ma:fieldsID="c22fb8be32bfa838d4bf18b8c4ba3c05" ns3:_="">
    <xsd:import namespace="f6af219d-e432-4a15-bc57-2cef55b458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af219d-e432-4a15-bc57-2cef55b458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DEF148-1770-458F-8F5B-C3D0A278AA97}">
  <ds:schemaRefs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f6af219d-e432-4a15-bc57-2cef55b458f9"/>
    <ds:schemaRef ds:uri="http://purl.org/dc/terms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033931-96D0-47CF-989E-2DD6064C77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af219d-e432-4a15-bc57-2cef55b458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도형 프레젠테이션</Template>
  <TotalTime>1635</TotalTime>
  <Words>288</Words>
  <Application>Microsoft Office PowerPoint</Application>
  <PresentationFormat>와이드스크린</PresentationFormat>
  <Paragraphs>74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-apple-system</vt:lpstr>
      <vt:lpstr>맑은 고딕</vt:lpstr>
      <vt:lpstr>Arial</vt:lpstr>
      <vt:lpstr>ShapesVTI</vt:lpstr>
      <vt:lpstr>JAVA 스터디 3주차</vt:lpstr>
      <vt:lpstr>스레드</vt:lpstr>
      <vt:lpstr>Thread 클래스 /Runnable 인터페이스</vt:lpstr>
      <vt:lpstr>멀티스레드 프로그래밍</vt:lpstr>
      <vt:lpstr>스레드 동기화</vt:lpstr>
      <vt:lpstr>Java.util/유틸리티 클래스</vt:lpstr>
      <vt:lpstr>유틸리티 클래스</vt:lpstr>
      <vt:lpstr>유틸리티 클래스</vt:lpstr>
      <vt:lpstr>Java.io 패키지의 주요 클래스</vt:lpstr>
      <vt:lpstr>Java.io 패키지의 주요 클래스</vt:lpstr>
      <vt:lpstr>Java.io 패키지의 주요 클래스</vt:lpstr>
      <vt:lpstr>Java.nio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스터디 1주차</dc:title>
  <dc:creator>장현태</dc:creator>
  <cp:lastModifiedBy>현태 장</cp:lastModifiedBy>
  <cp:revision>15</cp:revision>
  <dcterms:created xsi:type="dcterms:W3CDTF">2024-01-03T13:33:27Z</dcterms:created>
  <dcterms:modified xsi:type="dcterms:W3CDTF">2024-01-18T06:37:03Z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0x010100A527796160E6984891AC1B3EFEF4DF8B</vt:lpwstr>
  </property>
</Properties>
</file>